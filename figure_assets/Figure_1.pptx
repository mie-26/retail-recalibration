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a156d008e0424b" /><Relationship Type="http://schemas.openxmlformats.org/officeDocument/2006/relationships/extended-properties" Target="/docProps/app.xml" Id="R7ab9528e2a9c4581" /><Relationship Type="http://schemas.openxmlformats.org/officeDocument/2006/relationships/officeDocument" Target="/ppt/presentation.xml" Id="R1061e3072f5946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689138ffad417b"/>
  </p:sldMasterIdLst>
  <p:notesMasterIdLst>
    <p:notesMasterId xmlns:r="http://schemas.openxmlformats.org/officeDocument/2006/relationships" r:id="R96abdc8a7c194a02"/>
  </p:notesMasterIdLst>
  <p:sldIdLst>
    <p:sldId xmlns:r="http://schemas.openxmlformats.org/officeDocument/2006/relationships" id="256" r:id="Rbad729b5caa64d3b"/>
  </p:sldIdLst>
  <p:sldSz cx="12192000" cy="990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b48ea31d774e17" /><Relationship Type="http://schemas.openxmlformats.org/officeDocument/2006/relationships/slideMaster" Target="/ppt/slideMasters/slideMaster1.xml" Id="R8d689138ffad417b" /><Relationship Type="http://schemas.openxmlformats.org/officeDocument/2006/relationships/notesMaster" Target="/ppt/notesMasters/notesMaster1.xml" Id="R96abdc8a7c194a02" /><Relationship Type="http://schemas.openxmlformats.org/officeDocument/2006/relationships/presProps" Target="/ppt/presProps.xml" Id="R9abd58dd5df34a7d" /><Relationship Type="http://schemas.openxmlformats.org/officeDocument/2006/relationships/tableStyles" Target="/ppt/tableStyles.xml" Id="Raaabbaccfc9d4bd9" /><Relationship Type="http://schemas.openxmlformats.org/officeDocument/2006/relationships/slide" Target="/ppt/slides/slide1.xml" Id="Rbad729b5caa64d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a323fee0f344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7ccd8602f642e6" /><Relationship Type="http://schemas.openxmlformats.org/officeDocument/2006/relationships/notesMaster" Target="/ppt/notesMasters/notesMaster1.xml" Id="R07934a71da5f4f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mechanism schematic. Panel a shows schematic observations and ordered cumulative-sales quantiles, not measured values. Panel b uses matched illustrative residual marks, not empirical values or counts. R2 uses eligible mature residuals across versions; R3 keeps only the current version. Groups, window and output sorting remain identical. Panel c requires s+H+d≤t before issue. Panel d is the analytic binary availability example: H14/U28/d0, initially empty pool, complete labels, W≥H, one finite same-group residual sufficient. R2 [14,84); R3 [14,28),[42,56),[70,84). Availability does not mean nonzero correction. Scientific source: current manuscript Methods 3.4–3.5 and figure_source_data/figure1_design.json. Visual references inspected: Bodnar et al., Nature 2025, Fig.1 (https://doi.org/10.1038/s41586-025-09005-y); Lee et al., ICML 2025, Fig.1 (https://proceedings.mlr.press/v267/lee25ag.html); Im and Kwon, ICLR 2026, Fig.1 (https://proceedings.iclr.cc/paper_files/paper/2026/hash/2a8ce71baac4c89bf9ff479d8240c7d9-Abstract-Conference.html). References inform functional glyphs, hierarchy and explicit temporal pathways only. No figure elements or paper artwork are reproduced.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00349d7dd46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2993c8f1a43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847c7d29140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f4efa737249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ced4da88f4f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b201a301448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D02C4F-61FA-4EF3-90BD-65399C9B20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742267"/>
            <a:ext cx="9753600" cy="143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163C1B-1DAF-4899-81F3-4416849B04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5448300"/>
            <a:ext cx="8534400" cy="110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725CAA-7A6A-4363-897A-D2FEC1442D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4127500"/>
            <a:ext cx="97536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7AAD19-D3E4-424A-8A2C-DF41E7B34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70467"/>
            <a:ext cx="10820400" cy="121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2EABAA-7F65-4BAC-A509-88FCD97BD0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751667"/>
            <a:ext cx="10820400" cy="616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764170-7072-42B3-900E-1935D6782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70467"/>
            <a:ext cx="10820400" cy="121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AD43EF-3183-484E-A36C-1B331B27FF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751667"/>
            <a:ext cx="5029200" cy="616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663142-7134-4797-9198-2431C6AB15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751667"/>
            <a:ext cx="5029200" cy="616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7EF0E6-1010-4596-9F00-1A58340389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70467"/>
            <a:ext cx="10820400" cy="1210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02FC96-272A-4D16-A883-A3DE6863F1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751667"/>
            <a:ext cx="5029200" cy="616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6bfcf2531244b2" /><Relationship Type="http://schemas.openxmlformats.org/officeDocument/2006/relationships/slideLayout" Target="/ppt/slideLayouts/slideLayout1.xml" Id="R9a9b2990ed054692" /><Relationship Type="http://schemas.openxmlformats.org/officeDocument/2006/relationships/slideLayout" Target="/ppt/slideLayouts/slideLayout2.xml" Id="R6be5d70cca6a4742" /><Relationship Type="http://schemas.openxmlformats.org/officeDocument/2006/relationships/slideLayout" Target="/ppt/slideLayouts/slideLayout3.xml" Id="R5c47c6ab0a6545e3" /><Relationship Type="http://schemas.openxmlformats.org/officeDocument/2006/relationships/slideLayout" Target="/ppt/slideLayouts/slideLayout4.xml" Id="Ree90f8efca7443d0" /><Relationship Type="http://schemas.openxmlformats.org/officeDocument/2006/relationships/slideLayout" Target="/ppt/slideLayouts/slideLayout5.xml" Id="Rf2ed1c533ace4a57" /><Relationship Type="http://schemas.openxmlformats.org/officeDocument/2006/relationships/slideLayout" Target="/ppt/slideLayouts/slideLayout6.xml" Id="R94e1b8e16aa045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9b2990ed054692"/>
    <p:sldLayoutId xmlns:r="http://schemas.openxmlformats.org/officeDocument/2006/relationships" id="2147483650" r:id="R6be5d70cca6a4742"/>
    <p:sldLayoutId xmlns:r="http://schemas.openxmlformats.org/officeDocument/2006/relationships" id="2147483651" r:id="R5c47c6ab0a6545e3"/>
    <p:sldLayoutId xmlns:r="http://schemas.openxmlformats.org/officeDocument/2006/relationships" id="2147483652" r:id="Ree90f8efca7443d0"/>
    <p:sldLayoutId xmlns:r="http://schemas.openxmlformats.org/officeDocument/2006/relationships" id="2147483653" r:id="Rf2ed1c533ace4a57"/>
    <p:sldLayoutId xmlns:r="http://schemas.openxmlformats.org/officeDocument/2006/relationships" id="2147483654" r:id="R94e1b8e16aa045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94947450946d8" /><Relationship Type="http://schemas.openxmlformats.org/officeDocument/2006/relationships/notesSlide" Target="/ppt/notesSlides/notesSlide1.xml" Id="R26579c62245249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a">
            <a:extLst xmlns:a="http://schemas.openxmlformats.org/drawingml/2006/main">
              <a:ext uri="{FF2B5EF4-FFF2-40B4-BE49-F238E27FC236}">
                <a16:creationId xmlns:a16="http://schemas.microsoft.com/office/drawing/2014/main" id="{0EE317CB-3B65-43FD-96F3-DDD99DC7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14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" name="Shared base forecasts">
            <a:extLst xmlns:a="http://schemas.openxmlformats.org/drawingml/2006/main">
              <a:ext uri="{FF2B5EF4-FFF2-40B4-BE49-F238E27FC236}">
                <a16:creationId xmlns:a16="http://schemas.microsoft.com/office/drawing/2014/main" id="{5B615F03-899D-4C74-93C1-5DC821DB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Shared base forecasts</a:t>
            </a:r>
          </a:p>
        </p:txBody>
      </p:sp>
      <p:sp>
        <p:nvSpPr>
          <p:cNvPr id="3" name="Sales history">
            <a:extLst xmlns:a="http://schemas.openxmlformats.org/drawingml/2006/main">
              <a:ext uri="{FF2B5EF4-FFF2-40B4-BE49-F238E27FC236}">
                <a16:creationId xmlns:a16="http://schemas.microsoft.com/office/drawing/2014/main" id="{24F84A3F-A7E2-4A9A-AE73-C03DC277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286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Sales history</a:t>
            </a:r>
          </a:p>
        </p:txBody>
      </p:sp>
      <p:cxnSp>
        <p:nvCxnSpPr>
          <p:cNvPr id="4" name="line-1">
            <a:extLst xmlns:a="http://schemas.openxmlformats.org/drawingml/2006/main">
              <a:ext uri="{FF2B5EF4-FFF2-40B4-BE49-F238E27FC236}">
                <a16:creationId xmlns:a16="http://schemas.microsoft.com/office/drawing/2014/main" id="{22F9BB18-1C3B-44C8-A30F-C2DB1CD79B4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6250" y="1724025"/>
            <a:ext cx="181927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5" name="rect-2">
            <a:extLst xmlns:a="http://schemas.openxmlformats.org/drawingml/2006/main">
              <a:ext uri="{FF2B5EF4-FFF2-40B4-BE49-F238E27FC236}">
                <a16:creationId xmlns:a16="http://schemas.microsoft.com/office/drawing/2014/main" id="{52E9DCEE-EBAC-42BA-843E-CE9C51B8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43050"/>
            <a:ext cx="52388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-3">
            <a:extLst xmlns:a="http://schemas.openxmlformats.org/drawingml/2006/main">
              <a:ext uri="{FF2B5EF4-FFF2-40B4-BE49-F238E27FC236}">
                <a16:creationId xmlns:a16="http://schemas.microsoft.com/office/drawing/2014/main" id="{85299640-5B35-49F9-B311-D577921F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" y="1628775"/>
            <a:ext cx="5238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t-4">
            <a:extLst xmlns:a="http://schemas.openxmlformats.org/drawingml/2006/main">
              <a:ext uri="{FF2B5EF4-FFF2-40B4-BE49-F238E27FC236}">
                <a16:creationId xmlns:a16="http://schemas.microsoft.com/office/drawing/2014/main" id="{C2166659-F08D-46ED-8FCD-D0E24EAC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8" y="1400175"/>
            <a:ext cx="52388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t-5">
            <a:extLst xmlns:a="http://schemas.openxmlformats.org/drawingml/2006/main">
              <a:ext uri="{FF2B5EF4-FFF2-40B4-BE49-F238E27FC236}">
                <a16:creationId xmlns:a16="http://schemas.microsoft.com/office/drawing/2014/main" id="{85777EED-CEDF-483C-9654-53A5A687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144" y="1600200"/>
            <a:ext cx="52388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t-6">
            <a:extLst xmlns:a="http://schemas.openxmlformats.org/drawingml/2006/main">
              <a:ext uri="{FF2B5EF4-FFF2-40B4-BE49-F238E27FC236}">
                <a16:creationId xmlns:a16="http://schemas.microsoft.com/office/drawing/2014/main" id="{67E8C170-5539-4199-A5E0-5ED03C59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52388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t-7">
            <a:extLst xmlns:a="http://schemas.openxmlformats.org/drawingml/2006/main">
              <a:ext uri="{FF2B5EF4-FFF2-40B4-BE49-F238E27FC236}">
                <a16:creationId xmlns:a16="http://schemas.microsoft.com/office/drawing/2014/main" id="{91B20E58-9599-4B88-AB65-0F404330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56" y="1219200"/>
            <a:ext cx="52388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-8">
            <a:extLst xmlns:a="http://schemas.openxmlformats.org/drawingml/2006/main">
              <a:ext uri="{FF2B5EF4-FFF2-40B4-BE49-F238E27FC236}">
                <a16:creationId xmlns:a16="http://schemas.microsoft.com/office/drawing/2014/main" id="{37F70154-8C42-4D2C-90AC-E3E6C80D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3" y="1409700"/>
            <a:ext cx="5238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t-9">
            <a:extLst xmlns:a="http://schemas.openxmlformats.org/drawingml/2006/main">
              <a:ext uri="{FF2B5EF4-FFF2-40B4-BE49-F238E27FC236}">
                <a16:creationId xmlns:a16="http://schemas.microsoft.com/office/drawing/2014/main" id="{65A46161-A099-494D-A7D9-8D915FD7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569" y="1619250"/>
            <a:ext cx="5238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ct-10">
            <a:extLst xmlns:a="http://schemas.openxmlformats.org/drawingml/2006/main">
              <a:ext uri="{FF2B5EF4-FFF2-40B4-BE49-F238E27FC236}">
                <a16:creationId xmlns:a16="http://schemas.microsoft.com/office/drawing/2014/main" id="{0AD9A0F1-ECC2-4C38-A76E-4CFE9E88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495425"/>
            <a:ext cx="5238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t-11">
            <a:extLst xmlns:a="http://schemas.openxmlformats.org/drawingml/2006/main">
              <a:ext uri="{FF2B5EF4-FFF2-40B4-BE49-F238E27FC236}">
                <a16:creationId xmlns:a16="http://schemas.microsoft.com/office/drawing/2014/main" id="{9060BC97-D181-407F-9ED9-E5F77A29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81" y="1333500"/>
            <a:ext cx="52388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t-12">
            <a:extLst xmlns:a="http://schemas.openxmlformats.org/drawingml/2006/main">
              <a:ext uri="{FF2B5EF4-FFF2-40B4-BE49-F238E27FC236}">
                <a16:creationId xmlns:a16="http://schemas.microsoft.com/office/drawing/2014/main" id="{A8DE8FF0-424B-4600-A052-B001612B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8" y="1533525"/>
            <a:ext cx="5238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-13">
            <a:extLst xmlns:a="http://schemas.openxmlformats.org/drawingml/2006/main">
              <a:ext uri="{FF2B5EF4-FFF2-40B4-BE49-F238E27FC236}">
                <a16:creationId xmlns:a16="http://schemas.microsoft.com/office/drawing/2014/main" id="{243ACD13-D099-475D-81CB-8A7B8FFE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994" y="1590675"/>
            <a:ext cx="523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t-14">
            <a:extLst xmlns:a="http://schemas.openxmlformats.org/drawingml/2006/main">
              <a:ext uri="{FF2B5EF4-FFF2-40B4-BE49-F238E27FC236}">
                <a16:creationId xmlns:a16="http://schemas.microsoft.com/office/drawing/2014/main" id="{DBC7FE45-335F-4276-9257-0017D64B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304925"/>
            <a:ext cx="523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t-15">
            <a:extLst xmlns:a="http://schemas.openxmlformats.org/drawingml/2006/main">
              <a:ext uri="{FF2B5EF4-FFF2-40B4-BE49-F238E27FC236}">
                <a16:creationId xmlns:a16="http://schemas.microsoft.com/office/drawing/2014/main" id="{A24F922C-F238-4B55-8C99-8BB70751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206" y="1095375"/>
            <a:ext cx="5238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t-16">
            <a:extLst xmlns:a="http://schemas.openxmlformats.org/drawingml/2006/main">
              <a:ext uri="{FF2B5EF4-FFF2-40B4-BE49-F238E27FC236}">
                <a16:creationId xmlns:a16="http://schemas.microsoft.com/office/drawing/2014/main" id="{16DCC6DF-62B3-47FD-BAF8-D82BADE8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1371600"/>
            <a:ext cx="52388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ct-17">
            <a:extLst xmlns:a="http://schemas.openxmlformats.org/drawingml/2006/main">
              <a:ext uri="{FF2B5EF4-FFF2-40B4-BE49-F238E27FC236}">
                <a16:creationId xmlns:a16="http://schemas.microsoft.com/office/drawing/2014/main" id="{1DE0AC78-1449-48D5-90F3-2035D424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419" y="1543050"/>
            <a:ext cx="52388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-18">
            <a:extLst xmlns:a="http://schemas.openxmlformats.org/drawingml/2006/main">
              <a:ext uri="{FF2B5EF4-FFF2-40B4-BE49-F238E27FC236}">
                <a16:creationId xmlns:a16="http://schemas.microsoft.com/office/drawing/2014/main" id="{C857557E-9A54-496F-A984-0DB8AD38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1447800"/>
            <a:ext cx="5238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-19">
            <a:extLst xmlns:a="http://schemas.openxmlformats.org/drawingml/2006/main">
              <a:ext uri="{FF2B5EF4-FFF2-40B4-BE49-F238E27FC236}">
                <a16:creationId xmlns:a16="http://schemas.microsoft.com/office/drawing/2014/main" id="{014D7756-86C9-4128-88F9-F6CFF54A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631" y="1228725"/>
            <a:ext cx="5238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-20">
            <a:extLst xmlns:a="http://schemas.openxmlformats.org/drawingml/2006/main">
              <a:ext uri="{FF2B5EF4-FFF2-40B4-BE49-F238E27FC236}">
                <a16:creationId xmlns:a16="http://schemas.microsoft.com/office/drawing/2014/main" id="{635482D5-F4A0-4341-AA4D-5D3F50E6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8" y="1343025"/>
            <a:ext cx="523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-21">
            <a:extLst xmlns:a="http://schemas.openxmlformats.org/drawingml/2006/main">
              <a:ext uri="{FF2B5EF4-FFF2-40B4-BE49-F238E27FC236}">
                <a16:creationId xmlns:a16="http://schemas.microsoft.com/office/drawing/2014/main" id="{182A91A7-EF01-46CD-945D-118354EA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8844" y="1495425"/>
            <a:ext cx="5238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1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duct-level observations">
            <a:extLst xmlns:a="http://schemas.openxmlformats.org/drawingml/2006/main">
              <a:ext uri="{FF2B5EF4-FFF2-40B4-BE49-F238E27FC236}">
                <a16:creationId xmlns:a16="http://schemas.microsoft.com/office/drawing/2014/main" id="{41D06B16-E319-4DBE-9A44-C556CBB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857375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Product-level observations</a:t>
            </a:r>
          </a:p>
        </p:txBody>
      </p:sp>
      <p:cxnSp>
        <p:nvCxnSpPr>
          <p:cNvPr id="26" name="line-22">
            <a:extLst xmlns:a="http://schemas.openxmlformats.org/drawingml/2006/main">
              <a:ext uri="{FF2B5EF4-FFF2-40B4-BE49-F238E27FC236}">
                <a16:creationId xmlns:a16="http://schemas.microsoft.com/office/drawing/2014/main" id="{401D4966-E86C-4172-8983-767740E553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24125" y="13335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52A30"/>
            </a:solidFill>
            <a:prstDash val="solid"/>
            <a:tailEnd type="triangle" w="sm" len="sm"/>
          </a:ln>
        </p:spPr>
      </p:cxnSp>
      <p:sp>
        <p:nvSpPr>
          <p:cNvPr id="27" name="Common fitted forecaster">
            <a:extLst xmlns:a="http://schemas.openxmlformats.org/drawingml/2006/main">
              <a:ext uri="{FF2B5EF4-FFF2-40B4-BE49-F238E27FC236}">
                <a16:creationId xmlns:a16="http://schemas.microsoft.com/office/drawing/2014/main" id="{4C2B045E-E43D-4D3F-B12C-6593DFED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9906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52A30"/>
            </a:solidFill>
            <a:prstDash val="solid"/>
          </a:ln>
        </p:spPr>
      </p:sp>
      <p:sp>
        <p:nvSpPr>
          <p:cNvPr id="28" name="Base forecaster">
            <a:extLst xmlns:a="http://schemas.openxmlformats.org/drawingml/2006/main">
              <a:ext uri="{FF2B5EF4-FFF2-40B4-BE49-F238E27FC236}">
                <a16:creationId xmlns:a16="http://schemas.microsoft.com/office/drawing/2014/main" id="{6F0EC7F7-E70D-48F2-ACD9-C325C912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057275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Base forecaster</a:t>
            </a:r>
          </a:p>
        </p:txBody>
      </p:sp>
      <p:sp>
        <p:nvSpPr>
          <p:cNvPr id="29" name="LightGBM / MLP">
            <a:extLst xmlns:a="http://schemas.openxmlformats.org/drawingml/2006/main">
              <a:ext uri="{FF2B5EF4-FFF2-40B4-BE49-F238E27FC236}">
                <a16:creationId xmlns:a16="http://schemas.microsoft.com/office/drawing/2014/main" id="{067B74C6-7E82-4373-A66D-18083DB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71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LightGBM / MLP</a:t>
            </a:r>
          </a:p>
        </p:txBody>
      </p:sp>
      <p:sp>
        <p:nvSpPr>
          <p:cNvPr id="30" name="Refit every U periods">
            <a:extLst xmlns:a="http://schemas.openxmlformats.org/drawingml/2006/main">
              <a:ext uri="{FF2B5EF4-FFF2-40B4-BE49-F238E27FC236}">
                <a16:creationId xmlns:a16="http://schemas.microsoft.com/office/drawing/2014/main" id="{58DD4EC6-8677-4498-8C31-04CFC16B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57375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Refit every U periods</a:t>
            </a:r>
          </a:p>
        </p:txBody>
      </p:sp>
      <p:cxnSp>
        <p:nvCxnSpPr>
          <p:cNvPr id="31" name="line-23">
            <a:extLst xmlns:a="http://schemas.openxmlformats.org/drawingml/2006/main">
              <a:ext uri="{FF2B5EF4-FFF2-40B4-BE49-F238E27FC236}">
                <a16:creationId xmlns:a16="http://schemas.microsoft.com/office/drawing/2014/main" id="{B3BB084B-1F43-4B9D-A9DA-37B5E6D8D4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86375" y="13335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52A30"/>
            </a:solidFill>
            <a:prstDash val="solid"/>
            <a:tailEnd type="triangle" w="sm" len="sm"/>
          </a:ln>
        </p:spPr>
      </p:cxnSp>
      <p:sp>
        <p:nvSpPr>
          <p:cNvPr id="32" name="Cumulative sales over H">
            <a:extLst xmlns:a="http://schemas.openxmlformats.org/drawingml/2006/main">
              <a:ext uri="{FF2B5EF4-FFF2-40B4-BE49-F238E27FC236}">
                <a16:creationId xmlns:a16="http://schemas.microsoft.com/office/drawing/2014/main" id="{94C822AC-4982-4F37-A760-DFD06E8D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286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Cumulative sales over H</a:t>
            </a:r>
          </a:p>
        </p:txBody>
      </p:sp>
      <p:cxnSp>
        <p:nvCxnSpPr>
          <p:cNvPr id="33" name="line-24">
            <a:extLst xmlns:a="http://schemas.openxmlformats.org/drawingml/2006/main">
              <a:ext uri="{FF2B5EF4-FFF2-40B4-BE49-F238E27FC236}">
                <a16:creationId xmlns:a16="http://schemas.microsoft.com/office/drawing/2014/main" id="{9610318E-5430-43CC-AEC7-4CF87FD68E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57900" y="100965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34" name="line-25">
            <a:extLst xmlns:a="http://schemas.openxmlformats.org/drawingml/2006/main">
              <a:ext uri="{FF2B5EF4-FFF2-40B4-BE49-F238E27FC236}">
                <a16:creationId xmlns:a16="http://schemas.microsoft.com/office/drawing/2014/main" id="{D4FE71B2-07BD-429B-87B6-2DECD3EED9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57900" y="17240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35" name="line-26">
            <a:extLst xmlns:a="http://schemas.openxmlformats.org/drawingml/2006/main">
              <a:ext uri="{FF2B5EF4-FFF2-40B4-BE49-F238E27FC236}">
                <a16:creationId xmlns:a16="http://schemas.microsoft.com/office/drawing/2014/main" id="{DD30975B-AB88-4FE4-86D6-740622D41CC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76950" y="1133475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2A30"/>
            </a:solidFill>
            <a:prstDash val="solid"/>
            <a:tailEnd type="none" w="sm" len="sm"/>
          </a:ln>
        </p:spPr>
      </p:cxnSp>
      <p:sp>
        <p:nvSpPr>
          <p:cNvPr id="36" name="ellipse-27">
            <a:extLst xmlns:a="http://schemas.openxmlformats.org/drawingml/2006/main">
              <a:ext uri="{FF2B5EF4-FFF2-40B4-BE49-F238E27FC236}">
                <a16:creationId xmlns:a16="http://schemas.microsoft.com/office/drawing/2014/main" id="{89592388-C3A4-4E37-B3F1-20C5F51B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095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2A30"/>
            </a:solidFill>
            <a:prstDash val="solid"/>
          </a:ln>
        </p:spPr>
      </p:sp>
      <p:sp>
        <p:nvSpPr>
          <p:cNvPr id="37" name="q95">
            <a:extLst xmlns:a="http://schemas.openxmlformats.org/drawingml/2006/main">
              <a:ext uri="{FF2B5EF4-FFF2-40B4-BE49-F238E27FC236}">
                <a16:creationId xmlns:a16="http://schemas.microsoft.com/office/drawing/2014/main" id="{EC4A1DFB-F77E-41BA-80DE-ABEDA215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981075"/>
            <a:ext cx="60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q95</a:t>
            </a:r>
          </a:p>
        </p:txBody>
      </p:sp>
      <p:cxnSp>
        <p:nvCxnSpPr>
          <p:cNvPr id="38" name="line-28">
            <a:extLst xmlns:a="http://schemas.openxmlformats.org/drawingml/2006/main">
              <a:ext uri="{FF2B5EF4-FFF2-40B4-BE49-F238E27FC236}">
                <a16:creationId xmlns:a16="http://schemas.microsoft.com/office/drawing/2014/main" id="{0F7331E0-8DAE-4169-8E7B-A85D221B8B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76950" y="14478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52A30"/>
            </a:solidFill>
            <a:prstDash val="solid"/>
            <a:tailEnd type="none" w="sm" len="sm"/>
          </a:ln>
        </p:spPr>
      </p:cxnSp>
      <p:sp>
        <p:nvSpPr>
          <p:cNvPr id="39" name="ellipse-29">
            <a:extLst xmlns:a="http://schemas.openxmlformats.org/drawingml/2006/main">
              <a:ext uri="{FF2B5EF4-FFF2-40B4-BE49-F238E27FC236}">
                <a16:creationId xmlns:a16="http://schemas.microsoft.com/office/drawing/2014/main" id="{5E507C6D-08BB-4B65-890F-8A48D2A3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2A30"/>
            </a:solidFill>
            <a:prstDash val="solid"/>
          </a:ln>
        </p:spPr>
      </p:sp>
      <p:sp>
        <p:nvSpPr>
          <p:cNvPr id="40" name="q90">
            <a:extLst xmlns:a="http://schemas.openxmlformats.org/drawingml/2006/main">
              <a:ext uri="{FF2B5EF4-FFF2-40B4-BE49-F238E27FC236}">
                <a16:creationId xmlns:a16="http://schemas.microsoft.com/office/drawing/2014/main" id="{7275EC83-0A9C-46A7-A8F7-46EE5B70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04925"/>
            <a:ext cx="60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q90</a:t>
            </a:r>
          </a:p>
        </p:txBody>
      </p:sp>
      <p:sp>
        <p:nvSpPr>
          <p:cNvPr id="41" name="0">
            <a:extLst xmlns:a="http://schemas.openxmlformats.org/drawingml/2006/main">
              <a:ext uri="{FF2B5EF4-FFF2-40B4-BE49-F238E27FC236}">
                <a16:creationId xmlns:a16="http://schemas.microsoft.com/office/drawing/2014/main" id="{9B375835-A333-4CD8-801C-014FBA7A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90675"/>
            <a:ext cx="209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2" name="Nonnegative and ordered">
            <a:extLst xmlns:a="http://schemas.openxmlformats.org/drawingml/2006/main">
              <a:ext uri="{FF2B5EF4-FFF2-40B4-BE49-F238E27FC236}">
                <a16:creationId xmlns:a16="http://schemas.microsoft.com/office/drawing/2014/main" id="{53D212B9-CD4E-4619-A980-DBC3B047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5737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Nonnegative and ordered</a:t>
            </a:r>
          </a:p>
        </p:txBody>
      </p:sp>
      <p:cxnSp>
        <p:nvCxnSpPr>
          <p:cNvPr id="43" name="line-30">
            <a:extLst xmlns:a="http://schemas.openxmlformats.org/drawingml/2006/main">
              <a:ext uri="{FF2B5EF4-FFF2-40B4-BE49-F238E27FC236}">
                <a16:creationId xmlns:a16="http://schemas.microsoft.com/office/drawing/2014/main" id="{E4AC110D-DD52-4F00-9425-3E4F5334E45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48675" y="13335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52A30"/>
            </a:solidFill>
            <a:prstDash val="solid"/>
            <a:tailEnd type="triangle" w="sm" len="sm"/>
          </a:ln>
        </p:spPr>
      </p:cxnSp>
      <p:sp>
        <p:nvSpPr>
          <p:cNvPr id="44" name="R0">
            <a:extLst xmlns:a="http://schemas.openxmlformats.org/drawingml/2006/main">
              <a:ext uri="{FF2B5EF4-FFF2-40B4-BE49-F238E27FC236}">
                <a16:creationId xmlns:a16="http://schemas.microsoft.com/office/drawing/2014/main" id="{726DB553-21EB-4579-B10C-B5E4225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96202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R0</a:t>
            </a:r>
          </a:p>
        </p:txBody>
      </p:sp>
      <p:sp>
        <p:nvSpPr>
          <p:cNvPr id="45" name="Raw reference">
            <a:extLst xmlns:a="http://schemas.openxmlformats.org/drawingml/2006/main">
              <a:ext uri="{FF2B5EF4-FFF2-40B4-BE49-F238E27FC236}">
                <a16:creationId xmlns:a16="http://schemas.microsoft.com/office/drawing/2014/main" id="{E472977D-2F49-4905-BC83-2A3BF63F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3430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Raw reference</a:t>
            </a:r>
          </a:p>
        </p:txBody>
      </p:sp>
      <p:sp>
        <p:nvSpPr>
          <p:cNvPr id="46" name="Store each issued forecast">
            <a:extLst xmlns:a="http://schemas.openxmlformats.org/drawingml/2006/main">
              <a:ext uri="{FF2B5EF4-FFF2-40B4-BE49-F238E27FC236}">
                <a16:creationId xmlns:a16="http://schemas.microsoft.com/office/drawing/2014/main" id="{1C43B9E3-4E88-47DD-9532-FDB457A7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Store each issued forecast</a:t>
            </a:r>
          </a:p>
        </p:txBody>
      </p:sp>
      <p:cxnSp>
        <p:nvCxnSpPr>
          <p:cNvPr id="47" name="line-31">
            <a:extLst xmlns:a="http://schemas.openxmlformats.org/drawingml/2006/main">
              <a:ext uri="{FF2B5EF4-FFF2-40B4-BE49-F238E27FC236}">
                <a16:creationId xmlns:a16="http://schemas.microsoft.com/office/drawing/2014/main" id="{C5C0E62E-A3B4-4C9D-9F9C-98DF6A32316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7650" y="2371725"/>
            <a:ext cx="11696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ED4D9"/>
            </a:solidFill>
            <a:prstDash val="solid"/>
            <a:tailEnd type="none" w="sm" len="sm"/>
          </a:ln>
        </p:spPr>
      </p:cxnSp>
      <p:sp>
        <p:nvSpPr>
          <p:cNvPr id="48" name="b">
            <a:extLst xmlns:a="http://schemas.openxmlformats.org/drawingml/2006/main">
              <a:ext uri="{FF2B5EF4-FFF2-40B4-BE49-F238E27FC236}">
                <a16:creationId xmlns:a16="http://schemas.microsoft.com/office/drawing/2014/main" id="{2D49A4C0-8C97-4C42-92BF-333CBB89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47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9" name="Feedback eligibility">
            <a:extLst xmlns:a="http://schemas.openxmlformats.org/drawingml/2006/main">
              <a:ext uri="{FF2B5EF4-FFF2-40B4-BE49-F238E27FC236}">
                <a16:creationId xmlns:a16="http://schemas.microsoft.com/office/drawing/2014/main" id="{F28F66B5-283F-487B-9A78-C60A8B3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741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Feedback eligibility</a:t>
            </a:r>
          </a:p>
        </p:txBody>
      </p:sp>
      <p:sp>
        <p:nvSpPr>
          <p:cNvPr id="50" name="Mature normalized residuals within the rolling window">
            <a:extLst xmlns:a="http://schemas.openxmlformats.org/drawingml/2006/main">
              <a:ext uri="{FF2B5EF4-FFF2-40B4-BE49-F238E27FC236}">
                <a16:creationId xmlns:a16="http://schemas.microsoft.com/office/drawing/2014/main" id="{D8F64C03-FF01-4234-A812-D13F4507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086100"/>
            <a:ext cx="771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Mature normalized residuals within the rolling window</a:t>
            </a:r>
          </a:p>
        </p:txBody>
      </p:sp>
      <p:cxnSp>
        <p:nvCxnSpPr>
          <p:cNvPr id="51" name="line-32">
            <a:extLst xmlns:a="http://schemas.openxmlformats.org/drawingml/2006/main">
              <a:ext uri="{FF2B5EF4-FFF2-40B4-BE49-F238E27FC236}">
                <a16:creationId xmlns:a16="http://schemas.microsoft.com/office/drawing/2014/main" id="{3EF7C53E-8626-4600-988D-910D0EE4BD3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962150" y="383857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52" name="line-33">
            <a:extLst xmlns:a="http://schemas.openxmlformats.org/drawingml/2006/main">
              <a:ext uri="{FF2B5EF4-FFF2-40B4-BE49-F238E27FC236}">
                <a16:creationId xmlns:a16="http://schemas.microsoft.com/office/drawing/2014/main" id="{4AEAF310-FF53-4DAC-836B-B50EFFA238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62150" y="3838575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53" name="line-34">
            <a:extLst xmlns:a="http://schemas.openxmlformats.org/drawingml/2006/main">
              <a:ext uri="{FF2B5EF4-FFF2-40B4-BE49-F238E27FC236}">
                <a16:creationId xmlns:a16="http://schemas.microsoft.com/office/drawing/2014/main" id="{08BF2AD1-F3F7-4802-ADB3-6100B9939A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62350" y="383857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54" name="Earlier version">
            <a:extLst xmlns:a="http://schemas.openxmlformats.org/drawingml/2006/main">
              <a:ext uri="{FF2B5EF4-FFF2-40B4-BE49-F238E27FC236}">
                <a16:creationId xmlns:a16="http://schemas.microsoft.com/office/drawing/2014/main" id="{2F9E80DF-0A1C-4110-BB63-C0EF70EE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43300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Earlier version</a:t>
            </a:r>
          </a:p>
        </p:txBody>
      </p:sp>
      <p:cxnSp>
        <p:nvCxnSpPr>
          <p:cNvPr id="55" name="line-35">
            <a:extLst xmlns:a="http://schemas.openxmlformats.org/drawingml/2006/main">
              <a:ext uri="{FF2B5EF4-FFF2-40B4-BE49-F238E27FC236}">
                <a16:creationId xmlns:a16="http://schemas.microsoft.com/office/drawing/2014/main" id="{7DFAE03A-8287-4EDD-B5A7-B754AD12A13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162425" y="383857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56" name="line-36">
            <a:extLst xmlns:a="http://schemas.openxmlformats.org/drawingml/2006/main">
              <a:ext uri="{FF2B5EF4-FFF2-40B4-BE49-F238E27FC236}">
                <a16:creationId xmlns:a16="http://schemas.microsoft.com/office/drawing/2014/main" id="{2B08C0C0-5AE2-409B-BCD7-F538B453BC5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62425" y="3838575"/>
            <a:ext cx="16002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57" name="line-37">
            <a:extLst xmlns:a="http://schemas.openxmlformats.org/drawingml/2006/main">
              <a:ext uri="{FF2B5EF4-FFF2-40B4-BE49-F238E27FC236}">
                <a16:creationId xmlns:a16="http://schemas.microsoft.com/office/drawing/2014/main" id="{BED63273-D87A-49D6-AF44-6B1232439D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62625" y="3838575"/>
            <a:ext cx="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58" name="Current version">
            <a:extLst xmlns:a="http://schemas.openxmlformats.org/drawingml/2006/main">
              <a:ext uri="{FF2B5EF4-FFF2-40B4-BE49-F238E27FC236}">
                <a16:creationId xmlns:a16="http://schemas.microsoft.com/office/drawing/2014/main" id="{722F8C87-789B-4EB5-B52D-2DC8EF08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43300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Current version</a:t>
            </a:r>
          </a:p>
        </p:txBody>
      </p:sp>
      <p:cxnSp>
        <p:nvCxnSpPr>
          <p:cNvPr id="59" name="line-38">
            <a:extLst xmlns:a="http://schemas.openxmlformats.org/drawingml/2006/main">
              <a:ext uri="{FF2B5EF4-FFF2-40B4-BE49-F238E27FC236}">
                <a16:creationId xmlns:a16="http://schemas.microsoft.com/office/drawing/2014/main" id="{F8123F74-9548-4341-866C-8832AE5831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57625" y="3743325"/>
            <a:ext cx="0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CED4D9"/>
            </a:solidFill>
            <a:prstDash val="dash"/>
            <a:tailEnd type="none" w="sm" len="sm"/>
          </a:ln>
        </p:spPr>
      </p:cxnSp>
      <p:sp>
        <p:nvSpPr>
          <p:cNvPr id="60" name="R2 Reuse">
            <a:extLst xmlns:a="http://schemas.openxmlformats.org/drawingml/2006/main">
              <a:ext uri="{FF2B5EF4-FFF2-40B4-BE49-F238E27FC236}">
                <a16:creationId xmlns:a16="http://schemas.microsoft.com/office/drawing/2014/main" id="{20776DE6-9F7D-4559-B262-99FDBD47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191000"/>
            <a:ext cx="1628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76E98"/>
                </a:solidFill>
                <a:latin typeface="Arial"/>
                <a:ea typeface="Arial"/>
                <a:cs typeface="Arial"/>
              </a:rPr>
              <a:t>R2 Reuse</a:t>
            </a:r>
          </a:p>
        </p:txBody>
      </p:sp>
      <p:cxnSp>
        <p:nvCxnSpPr>
          <p:cNvPr id="61" name="line-39">
            <a:extLst xmlns:a="http://schemas.openxmlformats.org/drawingml/2006/main">
              <a:ext uri="{FF2B5EF4-FFF2-40B4-BE49-F238E27FC236}">
                <a16:creationId xmlns:a16="http://schemas.microsoft.com/office/drawing/2014/main" id="{CBC0BFCE-BBEA-4D8E-843C-CC2F7C86A1E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24050" y="4343400"/>
            <a:ext cx="3848100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CED4D9"/>
            </a:solidFill>
            <a:prstDash val="solid"/>
            <a:tailEnd type="none" w="sm" len="sm"/>
          </a:ln>
        </p:spPr>
      </p:cxnSp>
      <p:cxnSp>
        <p:nvCxnSpPr>
          <p:cNvPr id="62" name="line-40">
            <a:extLst xmlns:a="http://schemas.openxmlformats.org/drawingml/2006/main">
              <a:ext uri="{FF2B5EF4-FFF2-40B4-BE49-F238E27FC236}">
                <a16:creationId xmlns:a16="http://schemas.microsoft.com/office/drawing/2014/main" id="{AF7E92F5-9B4C-4285-91C2-5F25D88901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43125" y="43434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76E98"/>
            </a:solidFill>
            <a:prstDash val="solid"/>
            <a:tailEnd type="none" w="sm" len="sm"/>
          </a:ln>
        </p:spPr>
      </p:cxnSp>
      <p:sp>
        <p:nvSpPr>
          <p:cNvPr id="63" name="ellipse-41">
            <a:extLst xmlns:a="http://schemas.openxmlformats.org/drawingml/2006/main">
              <a:ext uri="{FF2B5EF4-FFF2-40B4-BE49-F238E27FC236}">
                <a16:creationId xmlns:a16="http://schemas.microsoft.com/office/drawing/2014/main" id="{9F9072CF-76BE-473B-AB5A-63BA3D15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168" y="447389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76E98"/>
            </a:solidFill>
            <a:prstDash val="solid"/>
          </a:ln>
        </p:spPr>
      </p:sp>
      <p:cxnSp>
        <p:nvCxnSpPr>
          <p:cNvPr id="64" name="line-42">
            <a:extLst xmlns:a="http://schemas.openxmlformats.org/drawingml/2006/main">
              <a:ext uri="{FF2B5EF4-FFF2-40B4-BE49-F238E27FC236}">
                <a16:creationId xmlns:a16="http://schemas.microsoft.com/office/drawing/2014/main" id="{1ADF384C-A899-4C94-B4C0-BE3CB92A696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667000" y="40767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76E98"/>
            </a:solidFill>
            <a:prstDash val="solid"/>
            <a:tailEnd type="none" w="sm" len="sm"/>
          </a:ln>
        </p:spPr>
      </p:cxnSp>
      <p:sp>
        <p:nvSpPr>
          <p:cNvPr id="65" name="ellipse-43">
            <a:extLst xmlns:a="http://schemas.openxmlformats.org/drawingml/2006/main">
              <a:ext uri="{FF2B5EF4-FFF2-40B4-BE49-F238E27FC236}">
                <a16:creationId xmlns:a16="http://schemas.microsoft.com/office/drawing/2014/main" id="{43F6EA8E-AB76-4B49-9F9C-CAB190B2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043" y="403574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76E98"/>
            </a:solidFill>
            <a:prstDash val="solid"/>
          </a:ln>
        </p:spPr>
      </p:sp>
      <p:cxnSp>
        <p:nvCxnSpPr>
          <p:cNvPr id="66" name="line-44">
            <a:extLst xmlns:a="http://schemas.openxmlformats.org/drawingml/2006/main">
              <a:ext uri="{FF2B5EF4-FFF2-40B4-BE49-F238E27FC236}">
                <a16:creationId xmlns:a16="http://schemas.microsoft.com/office/drawing/2014/main" id="{FDBD6391-9CA4-4171-8F29-223CCDFC6E2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190875" y="42481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76E98"/>
            </a:solidFill>
            <a:prstDash val="solid"/>
            <a:tailEnd type="none" w="sm" len="sm"/>
          </a:ln>
        </p:spPr>
      </p:cxnSp>
      <p:sp>
        <p:nvSpPr>
          <p:cNvPr id="67" name="ellipse-45">
            <a:extLst xmlns:a="http://schemas.openxmlformats.org/drawingml/2006/main">
              <a:ext uri="{FF2B5EF4-FFF2-40B4-BE49-F238E27FC236}">
                <a16:creationId xmlns:a16="http://schemas.microsoft.com/office/drawing/2014/main" id="{9CF7BEB2-2AF7-4B59-BA82-AD6A1B9D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918" y="420719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76E98"/>
            </a:solidFill>
            <a:prstDash val="solid"/>
          </a:ln>
        </p:spPr>
      </p:sp>
      <p:cxnSp>
        <p:nvCxnSpPr>
          <p:cNvPr id="68" name="line-46">
            <a:extLst xmlns:a="http://schemas.openxmlformats.org/drawingml/2006/main">
              <a:ext uri="{FF2B5EF4-FFF2-40B4-BE49-F238E27FC236}">
                <a16:creationId xmlns:a16="http://schemas.microsoft.com/office/drawing/2014/main" id="{25B899C1-FAC0-423E-AA3D-D6A223B29AB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33875" y="43434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76E98"/>
            </a:solidFill>
            <a:prstDash val="solid"/>
            <a:tailEnd type="none" w="sm" len="sm"/>
          </a:ln>
        </p:spPr>
      </p:cxnSp>
      <p:sp>
        <p:nvSpPr>
          <p:cNvPr id="69" name="ellipse-47">
            <a:extLst xmlns:a="http://schemas.openxmlformats.org/drawingml/2006/main">
              <a:ext uri="{FF2B5EF4-FFF2-40B4-BE49-F238E27FC236}">
                <a16:creationId xmlns:a16="http://schemas.microsoft.com/office/drawing/2014/main" id="{29107A58-BBE0-455C-AB25-B8EDEA29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918" y="455009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76E98"/>
            </a:solidFill>
            <a:prstDash val="solid"/>
          </a:ln>
        </p:spPr>
      </p:sp>
      <p:cxnSp>
        <p:nvCxnSpPr>
          <p:cNvPr id="70" name="line-48">
            <a:extLst xmlns:a="http://schemas.openxmlformats.org/drawingml/2006/main">
              <a:ext uri="{FF2B5EF4-FFF2-40B4-BE49-F238E27FC236}">
                <a16:creationId xmlns:a16="http://schemas.microsoft.com/office/drawing/2014/main" id="{254EBCDE-B7E1-4EF5-9377-824EEAC578B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857750" y="41529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76E98"/>
            </a:solidFill>
            <a:prstDash val="solid"/>
            <a:tailEnd type="none" w="sm" len="sm"/>
          </a:ln>
        </p:spPr>
      </p:cxnSp>
      <p:sp>
        <p:nvSpPr>
          <p:cNvPr id="71" name="ellipse-49">
            <a:extLst xmlns:a="http://schemas.openxmlformats.org/drawingml/2006/main">
              <a:ext uri="{FF2B5EF4-FFF2-40B4-BE49-F238E27FC236}">
                <a16:creationId xmlns:a16="http://schemas.microsoft.com/office/drawing/2014/main" id="{CEC3F972-F2AE-4387-8EB8-DE751D67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793" y="411194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76E98"/>
            </a:solidFill>
            <a:prstDash val="solid"/>
          </a:ln>
        </p:spPr>
      </p:sp>
      <p:cxnSp>
        <p:nvCxnSpPr>
          <p:cNvPr id="72" name="line-50">
            <a:extLst xmlns:a="http://schemas.openxmlformats.org/drawingml/2006/main">
              <a:ext uri="{FF2B5EF4-FFF2-40B4-BE49-F238E27FC236}">
                <a16:creationId xmlns:a16="http://schemas.microsoft.com/office/drawing/2014/main" id="{2649CC0D-8770-4350-B701-70299D270BE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81625" y="4276725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76E98"/>
            </a:solidFill>
            <a:prstDash val="solid"/>
            <a:tailEnd type="none" w="sm" len="sm"/>
          </a:ln>
        </p:spPr>
      </p:cxnSp>
      <p:sp>
        <p:nvSpPr>
          <p:cNvPr id="73" name="ellipse-51">
            <a:extLst xmlns:a="http://schemas.openxmlformats.org/drawingml/2006/main">
              <a:ext uri="{FF2B5EF4-FFF2-40B4-BE49-F238E27FC236}">
                <a16:creationId xmlns:a16="http://schemas.microsoft.com/office/drawing/2014/main" id="{5B8473E9-6B23-4DE2-8CE1-B89B2F1B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668" y="423576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76E98"/>
            </a:solidFill>
            <a:prstDash val="solid"/>
          </a:ln>
        </p:spPr>
      </p:sp>
      <p:cxnSp>
        <p:nvCxnSpPr>
          <p:cNvPr id="74" name="line-52">
            <a:extLst xmlns:a="http://schemas.openxmlformats.org/drawingml/2006/main">
              <a:ext uri="{FF2B5EF4-FFF2-40B4-BE49-F238E27FC236}">
                <a16:creationId xmlns:a16="http://schemas.microsoft.com/office/drawing/2014/main" id="{50060B1F-5B1A-4C80-BAAA-7E931F05E1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15025" y="43434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76E98"/>
            </a:solidFill>
            <a:prstDash val="solid"/>
            <a:tailEnd type="triangle" w="sm" len="sm"/>
          </a:ln>
        </p:spPr>
      </p:cxnSp>
      <p:sp>
        <p:nvSpPr>
          <p:cNvPr id="75" name="Grouped calibrator R2">
            <a:extLst xmlns:a="http://schemas.openxmlformats.org/drawingml/2006/main">
              <a:ext uri="{FF2B5EF4-FFF2-40B4-BE49-F238E27FC236}">
                <a16:creationId xmlns:a16="http://schemas.microsoft.com/office/drawing/2014/main" id="{8E25F552-C543-491B-963F-F071C797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48125"/>
            <a:ext cx="150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76E98"/>
            </a:solidFill>
            <a:prstDash val="solid"/>
          </a:ln>
        </p:spPr>
      </p:sp>
      <p:sp>
        <p:nvSpPr>
          <p:cNvPr id="76" name="Group residual">
            <a:extLst xmlns:a="http://schemas.openxmlformats.org/drawingml/2006/main">
              <a:ext uri="{FF2B5EF4-FFF2-40B4-BE49-F238E27FC236}">
                <a16:creationId xmlns:a16="http://schemas.microsoft.com/office/drawing/2014/main" id="{FA5B4518-775B-4AB1-82D7-B4DC42BD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76E98"/>
                </a:solidFill>
                <a:latin typeface="Arial"/>
                <a:ea typeface="Arial"/>
                <a:cs typeface="Arial"/>
              </a:rPr>
              <a:t>Group residual</a:t>
            </a:r>
          </a:p>
        </p:txBody>
      </p:sp>
      <p:sp>
        <p:nvSpPr>
          <p:cNvPr id="77" name="quantile">
            <a:extLst xmlns:a="http://schemas.openxmlformats.org/drawingml/2006/main">
              <a:ext uri="{FF2B5EF4-FFF2-40B4-BE49-F238E27FC236}">
                <a16:creationId xmlns:a16="http://schemas.microsoft.com/office/drawing/2014/main" id="{F6927F55-6AD6-4EC0-9CAB-C56375ED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76E9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6E98"/>
                </a:solidFill>
                <a:latin typeface="Arial"/>
                <a:ea typeface="Arial"/>
                <a:cs typeface="Arial"/>
              </a:rPr>
              <a:t>quantile</a:t>
            </a:r>
          </a:p>
        </p:txBody>
      </p:sp>
      <p:sp>
        <p:nvSpPr>
          <p:cNvPr id="78" name="R3 Isolate">
            <a:extLst xmlns:a="http://schemas.openxmlformats.org/drawingml/2006/main">
              <a:ext uri="{FF2B5EF4-FFF2-40B4-BE49-F238E27FC236}">
                <a16:creationId xmlns:a16="http://schemas.microsoft.com/office/drawing/2014/main" id="{AEE363FF-F361-4162-A440-0C98D1B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219700"/>
            <a:ext cx="1628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D632D"/>
                </a:solidFill>
                <a:latin typeface="Arial"/>
                <a:ea typeface="Arial"/>
                <a:cs typeface="Arial"/>
              </a:rPr>
              <a:t>R3 Isolate</a:t>
            </a:r>
          </a:p>
        </p:txBody>
      </p:sp>
      <p:cxnSp>
        <p:nvCxnSpPr>
          <p:cNvPr id="79" name="line-53">
            <a:extLst xmlns:a="http://schemas.openxmlformats.org/drawingml/2006/main">
              <a:ext uri="{FF2B5EF4-FFF2-40B4-BE49-F238E27FC236}">
                <a16:creationId xmlns:a16="http://schemas.microsoft.com/office/drawing/2014/main" id="{10EF37EB-59F1-4324-97B6-37FD294CF2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24050" y="5372100"/>
            <a:ext cx="3848100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CED4D9"/>
            </a:solidFill>
            <a:prstDash val="solid"/>
            <a:tailEnd type="none" w="sm" len="sm"/>
          </a:ln>
        </p:spPr>
      </p:cxnSp>
      <p:cxnSp>
        <p:nvCxnSpPr>
          <p:cNvPr id="80" name="line-54">
            <a:extLst xmlns:a="http://schemas.openxmlformats.org/drawingml/2006/main">
              <a:ext uri="{FF2B5EF4-FFF2-40B4-BE49-F238E27FC236}">
                <a16:creationId xmlns:a16="http://schemas.microsoft.com/office/drawing/2014/main" id="{AA472523-1DE5-4032-A49B-AFB250BDC6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05025" y="5505450"/>
            <a:ext cx="762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BB3BA"/>
            </a:solidFill>
            <a:prstDash val="solid"/>
            <a:tailEnd type="none" w="sm" len="sm"/>
          </a:ln>
        </p:spPr>
      </p:cxnSp>
      <p:cxnSp>
        <p:nvCxnSpPr>
          <p:cNvPr id="81" name="line-55">
            <a:extLst xmlns:a="http://schemas.openxmlformats.org/drawingml/2006/main">
              <a:ext uri="{FF2B5EF4-FFF2-40B4-BE49-F238E27FC236}">
                <a16:creationId xmlns:a16="http://schemas.microsoft.com/office/drawing/2014/main" id="{F1BE6969-62B2-40F3-B713-D03D6DFE95A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105025" y="5505450"/>
            <a:ext cx="762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BB3BA"/>
            </a:solidFill>
            <a:prstDash val="solid"/>
            <a:tailEnd type="none" w="sm" len="sm"/>
          </a:ln>
        </p:spPr>
      </p:cxnSp>
      <p:cxnSp>
        <p:nvCxnSpPr>
          <p:cNvPr id="82" name="line-56">
            <a:extLst xmlns:a="http://schemas.openxmlformats.org/drawingml/2006/main">
              <a:ext uri="{FF2B5EF4-FFF2-40B4-BE49-F238E27FC236}">
                <a16:creationId xmlns:a16="http://schemas.microsoft.com/office/drawing/2014/main" id="{2D6A4E68-1B87-4BD1-BBAE-AC35F63733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28900" y="5067300"/>
            <a:ext cx="762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BB3BA"/>
            </a:solidFill>
            <a:prstDash val="solid"/>
            <a:tailEnd type="none" w="sm" len="sm"/>
          </a:ln>
        </p:spPr>
      </p:cxnSp>
      <p:cxnSp>
        <p:nvCxnSpPr>
          <p:cNvPr id="83" name="line-57">
            <a:extLst xmlns:a="http://schemas.openxmlformats.org/drawingml/2006/main">
              <a:ext uri="{FF2B5EF4-FFF2-40B4-BE49-F238E27FC236}">
                <a16:creationId xmlns:a16="http://schemas.microsoft.com/office/drawing/2014/main" id="{36A77E50-A93D-4DF5-8F3B-58492941718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628900" y="5067300"/>
            <a:ext cx="762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BB3BA"/>
            </a:solidFill>
            <a:prstDash val="solid"/>
            <a:tailEnd type="none" w="sm" len="sm"/>
          </a:ln>
        </p:spPr>
      </p:cxnSp>
      <p:cxnSp>
        <p:nvCxnSpPr>
          <p:cNvPr id="84" name="line-58">
            <a:extLst xmlns:a="http://schemas.openxmlformats.org/drawingml/2006/main">
              <a:ext uri="{FF2B5EF4-FFF2-40B4-BE49-F238E27FC236}">
                <a16:creationId xmlns:a16="http://schemas.microsoft.com/office/drawing/2014/main" id="{95E24B8D-013A-4902-B206-CE7DB4B881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52775" y="5238750"/>
            <a:ext cx="762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BB3BA"/>
            </a:solidFill>
            <a:prstDash val="solid"/>
            <a:tailEnd type="none" w="sm" len="sm"/>
          </a:ln>
        </p:spPr>
      </p:cxnSp>
      <p:cxnSp>
        <p:nvCxnSpPr>
          <p:cNvPr id="85" name="line-59">
            <a:extLst xmlns:a="http://schemas.openxmlformats.org/drawingml/2006/main">
              <a:ext uri="{FF2B5EF4-FFF2-40B4-BE49-F238E27FC236}">
                <a16:creationId xmlns:a16="http://schemas.microsoft.com/office/drawing/2014/main" id="{0ABD88E9-7E07-4494-A281-4B11F5C2B68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152775" y="5238750"/>
            <a:ext cx="762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BB3BA"/>
            </a:solidFill>
            <a:prstDash val="solid"/>
            <a:tailEnd type="none" w="sm" len="sm"/>
          </a:ln>
        </p:spPr>
      </p:cxnSp>
      <p:cxnSp>
        <p:nvCxnSpPr>
          <p:cNvPr id="86" name="line-60">
            <a:extLst xmlns:a="http://schemas.openxmlformats.org/drawingml/2006/main">
              <a:ext uri="{FF2B5EF4-FFF2-40B4-BE49-F238E27FC236}">
                <a16:creationId xmlns:a16="http://schemas.microsoft.com/office/drawing/2014/main" id="{BD0ABFC3-77E6-4F49-8F6D-5EF72947B6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33875" y="53721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D632D"/>
            </a:solidFill>
            <a:prstDash val="solid"/>
            <a:tailEnd type="none" w="sm" len="sm"/>
          </a:ln>
        </p:spPr>
      </p:cxnSp>
      <p:sp>
        <p:nvSpPr>
          <p:cNvPr id="87" name="ellipse-61">
            <a:extLst xmlns:a="http://schemas.openxmlformats.org/drawingml/2006/main">
              <a:ext uri="{FF2B5EF4-FFF2-40B4-BE49-F238E27FC236}">
                <a16:creationId xmlns:a16="http://schemas.microsoft.com/office/drawing/2014/main" id="{4CD19DAB-F393-407F-9097-112C7B2A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918" y="557879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D632D"/>
            </a:solidFill>
            <a:prstDash val="solid"/>
          </a:ln>
        </p:spPr>
      </p:sp>
      <p:cxnSp>
        <p:nvCxnSpPr>
          <p:cNvPr id="88" name="line-62">
            <a:extLst xmlns:a="http://schemas.openxmlformats.org/drawingml/2006/main">
              <a:ext uri="{FF2B5EF4-FFF2-40B4-BE49-F238E27FC236}">
                <a16:creationId xmlns:a16="http://schemas.microsoft.com/office/drawing/2014/main" id="{93E4D2C9-5C49-4E69-A57E-24C639E94A8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857750" y="51816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D632D"/>
            </a:solidFill>
            <a:prstDash val="solid"/>
            <a:tailEnd type="none" w="sm" len="sm"/>
          </a:ln>
        </p:spPr>
      </p:cxnSp>
      <p:sp>
        <p:nvSpPr>
          <p:cNvPr id="89" name="ellipse-63">
            <a:extLst xmlns:a="http://schemas.openxmlformats.org/drawingml/2006/main">
              <a:ext uri="{FF2B5EF4-FFF2-40B4-BE49-F238E27FC236}">
                <a16:creationId xmlns:a16="http://schemas.microsoft.com/office/drawing/2014/main" id="{32ABFBDC-5557-4324-9693-D1CF97A4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793" y="514064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D632D"/>
            </a:solidFill>
            <a:prstDash val="solid"/>
          </a:ln>
        </p:spPr>
      </p:sp>
      <p:cxnSp>
        <p:nvCxnSpPr>
          <p:cNvPr id="90" name="line-64">
            <a:extLst xmlns:a="http://schemas.openxmlformats.org/drawingml/2006/main">
              <a:ext uri="{FF2B5EF4-FFF2-40B4-BE49-F238E27FC236}">
                <a16:creationId xmlns:a16="http://schemas.microsoft.com/office/drawing/2014/main" id="{24FB4981-D8F7-4F2A-AD75-FE115757A02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81625" y="5305425"/>
            <a:ext cx="0" cy="66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D632D"/>
            </a:solidFill>
            <a:prstDash val="solid"/>
            <a:tailEnd type="none" w="sm" len="sm"/>
          </a:ln>
        </p:spPr>
      </p:cxnSp>
      <p:sp>
        <p:nvSpPr>
          <p:cNvPr id="91" name="ellipse-65">
            <a:extLst xmlns:a="http://schemas.openxmlformats.org/drawingml/2006/main">
              <a:ext uri="{FF2B5EF4-FFF2-40B4-BE49-F238E27FC236}">
                <a16:creationId xmlns:a16="http://schemas.microsoft.com/office/drawing/2014/main" id="{3C34F3F7-C005-41B5-AAC8-5E92BB00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668" y="5264468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D632D"/>
            </a:solidFill>
            <a:prstDash val="solid"/>
          </a:ln>
        </p:spPr>
      </p:sp>
      <p:cxnSp>
        <p:nvCxnSpPr>
          <p:cNvPr id="92" name="line-66">
            <a:extLst xmlns:a="http://schemas.openxmlformats.org/drawingml/2006/main">
              <a:ext uri="{FF2B5EF4-FFF2-40B4-BE49-F238E27FC236}">
                <a16:creationId xmlns:a16="http://schemas.microsoft.com/office/drawing/2014/main" id="{E87A39CE-B2C9-4D3A-84B2-9D0CF75323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15025" y="53721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D632D"/>
            </a:solidFill>
            <a:prstDash val="solid"/>
            <a:tailEnd type="triangle" w="sm" len="sm"/>
          </a:ln>
        </p:spPr>
      </p:cxnSp>
      <p:sp>
        <p:nvSpPr>
          <p:cNvPr id="93" name="Grouped calibrator R3">
            <a:extLst xmlns:a="http://schemas.openxmlformats.org/drawingml/2006/main">
              <a:ext uri="{FF2B5EF4-FFF2-40B4-BE49-F238E27FC236}">
                <a16:creationId xmlns:a16="http://schemas.microsoft.com/office/drawing/2014/main" id="{4E4D3F29-E76C-4DA9-A03A-3D509508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76825"/>
            <a:ext cx="150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D632D"/>
            </a:solidFill>
            <a:prstDash val="solid"/>
          </a:ln>
        </p:spPr>
      </p:sp>
      <p:sp>
        <p:nvSpPr>
          <p:cNvPr id="94" name="Group residual">
            <a:extLst xmlns:a="http://schemas.openxmlformats.org/drawingml/2006/main">
              <a:ext uri="{FF2B5EF4-FFF2-40B4-BE49-F238E27FC236}">
                <a16:creationId xmlns:a16="http://schemas.microsoft.com/office/drawing/2014/main" id="{8E153266-A713-4EDC-A865-668A6CB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24450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D632D"/>
                </a:solidFill>
                <a:latin typeface="Arial"/>
                <a:ea typeface="Arial"/>
                <a:cs typeface="Arial"/>
              </a:rPr>
              <a:t>Group residual</a:t>
            </a:r>
          </a:p>
        </p:txBody>
      </p:sp>
      <p:sp>
        <p:nvSpPr>
          <p:cNvPr id="95" name="quantile">
            <a:extLst xmlns:a="http://schemas.openxmlformats.org/drawingml/2006/main">
              <a:ext uri="{FF2B5EF4-FFF2-40B4-BE49-F238E27FC236}">
                <a16:creationId xmlns:a16="http://schemas.microsoft.com/office/drawing/2014/main" id="{0579FB36-4FD7-4E25-9067-F1D2DEC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91150"/>
            <a:ext cx="1352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BD6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D632D"/>
                </a:solidFill>
                <a:latin typeface="Arial"/>
                <a:ea typeface="Arial"/>
                <a:cs typeface="Arial"/>
              </a:rPr>
              <a:t>quantile</a:t>
            </a:r>
          </a:p>
        </p:txBody>
      </p:sp>
      <p:sp>
        <p:nvSpPr>
          <p:cNvPr id="96" name="ellipse-67">
            <a:extLst xmlns:a="http://schemas.openxmlformats.org/drawingml/2006/main">
              <a:ext uri="{FF2B5EF4-FFF2-40B4-BE49-F238E27FC236}">
                <a16:creationId xmlns:a16="http://schemas.microsoft.com/office/drawing/2014/main" id="{990DB2C1-305F-4E87-98ED-82AF7DAD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168" y="5883593"/>
            <a:ext cx="81915" cy="819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16970"/>
            </a:solidFill>
            <a:prstDash val="solid"/>
          </a:ln>
        </p:spPr>
      </p:sp>
      <p:sp>
        <p:nvSpPr>
          <p:cNvPr id="97" name="used">
            <a:extLst xmlns:a="http://schemas.openxmlformats.org/drawingml/2006/main">
              <a:ext uri="{FF2B5EF4-FFF2-40B4-BE49-F238E27FC236}">
                <a16:creationId xmlns:a16="http://schemas.microsoft.com/office/drawing/2014/main" id="{6E5D7A6C-4E23-4717-B936-EB9B2320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9120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used</a:t>
            </a:r>
          </a:p>
        </p:txBody>
      </p:sp>
      <p:cxnSp>
        <p:nvCxnSpPr>
          <p:cNvPr id="98" name="line-68">
            <a:extLst xmlns:a="http://schemas.openxmlformats.org/drawingml/2006/main">
              <a:ext uri="{FF2B5EF4-FFF2-40B4-BE49-F238E27FC236}">
                <a16:creationId xmlns:a16="http://schemas.microsoft.com/office/drawing/2014/main" id="{9EF78642-E1B9-4AEA-9B9C-0625CA7BC78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38500" y="5876925"/>
            <a:ext cx="762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BB3BA"/>
            </a:solidFill>
            <a:prstDash val="solid"/>
            <a:tailEnd type="none" w="sm" len="sm"/>
          </a:ln>
        </p:spPr>
      </p:cxnSp>
      <p:cxnSp>
        <p:nvCxnSpPr>
          <p:cNvPr id="99" name="line-69">
            <a:extLst xmlns:a="http://schemas.openxmlformats.org/drawingml/2006/main">
              <a:ext uri="{FF2B5EF4-FFF2-40B4-BE49-F238E27FC236}">
                <a16:creationId xmlns:a16="http://schemas.microsoft.com/office/drawing/2014/main" id="{F56F4591-D69F-460B-8A15-B3FE164602C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238500" y="5876925"/>
            <a:ext cx="762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BB3BA"/>
            </a:solidFill>
            <a:prstDash val="solid"/>
            <a:tailEnd type="none" w="sm" len="sm"/>
          </a:ln>
        </p:spPr>
      </p:cxnSp>
      <p:sp>
        <p:nvSpPr>
          <p:cNvPr id="100" name="excluded">
            <a:extLst xmlns:a="http://schemas.openxmlformats.org/drawingml/2006/main">
              <a:ext uri="{FF2B5EF4-FFF2-40B4-BE49-F238E27FC236}">
                <a16:creationId xmlns:a16="http://schemas.microsoft.com/office/drawing/2014/main" id="{51A92368-CAC6-41EF-B237-55A36760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91200"/>
            <a:ext cx="1076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101" name="Same frequency groups, window and output sorting">
            <a:extLst xmlns:a="http://schemas.openxmlformats.org/drawingml/2006/main">
              <a:ext uri="{FF2B5EF4-FFF2-40B4-BE49-F238E27FC236}">
                <a16:creationId xmlns:a16="http://schemas.microsoft.com/office/drawing/2014/main" id="{18AE3EE3-92B6-4C87-92D1-DA79C2BF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257925"/>
            <a:ext cx="7820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Same frequency groups, window and output sorting</a:t>
            </a:r>
          </a:p>
        </p:txBody>
      </p:sp>
      <p:cxnSp>
        <p:nvCxnSpPr>
          <p:cNvPr id="102" name="line-70">
            <a:extLst xmlns:a="http://schemas.openxmlformats.org/drawingml/2006/main">
              <a:ext uri="{FF2B5EF4-FFF2-40B4-BE49-F238E27FC236}">
                <a16:creationId xmlns:a16="http://schemas.microsoft.com/office/drawing/2014/main" id="{24BA1ECC-2A8C-4F8F-A5D6-CAD2C911FA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39150" y="2686050"/>
            <a:ext cx="0" cy="38385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ED4D9"/>
            </a:solidFill>
            <a:prstDash val="solid"/>
            <a:tailEnd type="none" w="sm" len="sm"/>
          </a:ln>
        </p:spPr>
      </p:cxnSp>
      <p:sp>
        <p:nvSpPr>
          <p:cNvPr id="103" name="c">
            <a:extLst xmlns:a="http://schemas.openxmlformats.org/drawingml/2006/main">
              <a:ext uri="{FF2B5EF4-FFF2-40B4-BE49-F238E27FC236}">
                <a16:creationId xmlns:a16="http://schemas.microsoft.com/office/drawing/2014/main" id="{2D776461-811D-407D-96F7-14B7167B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47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4" name="Label release">
            <a:extLst xmlns:a="http://schemas.openxmlformats.org/drawingml/2006/main">
              <a:ext uri="{FF2B5EF4-FFF2-40B4-BE49-F238E27FC236}">
                <a16:creationId xmlns:a16="http://schemas.microsoft.com/office/drawing/2014/main" id="{2EA18B0B-F1A0-4097-8EC3-9F4EB598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Label release</a:t>
            </a:r>
          </a:p>
        </p:txBody>
      </p:sp>
      <p:cxnSp>
        <p:nvCxnSpPr>
          <p:cNvPr id="105" name="line-71">
            <a:extLst xmlns:a="http://schemas.openxmlformats.org/drawingml/2006/main">
              <a:ext uri="{FF2B5EF4-FFF2-40B4-BE49-F238E27FC236}">
                <a16:creationId xmlns:a16="http://schemas.microsoft.com/office/drawing/2014/main" id="{01057913-AA96-41EA-88E1-3F96D2DE90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34450" y="3667125"/>
            <a:ext cx="0" cy="19621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06" name="ellipse-72">
            <a:extLst xmlns:a="http://schemas.openxmlformats.org/drawingml/2006/main">
              <a:ext uri="{FF2B5EF4-FFF2-40B4-BE49-F238E27FC236}">
                <a16:creationId xmlns:a16="http://schemas.microsoft.com/office/drawing/2014/main" id="{75219E1B-D62B-4AA5-9222-DEB67FE2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29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2A30"/>
            </a:solidFill>
            <a:prstDash val="solid"/>
          </a:ln>
        </p:spPr>
      </p:sp>
      <p:sp>
        <p:nvSpPr>
          <p:cNvPr id="107" name="Forecast issued">
            <a:extLst xmlns:a="http://schemas.openxmlformats.org/drawingml/2006/main">
              <a:ext uri="{FF2B5EF4-FFF2-40B4-BE49-F238E27FC236}">
                <a16:creationId xmlns:a16="http://schemas.microsoft.com/office/drawing/2014/main" id="{49EFC815-037F-4408-9E62-3BBF73C3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8615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Forecast issued</a:t>
            </a:r>
          </a:p>
        </p:txBody>
      </p:sp>
      <p:sp>
        <p:nvSpPr>
          <p:cNvPr id="108" name="s">
            <a:extLst xmlns:a="http://schemas.openxmlformats.org/drawingml/2006/main">
              <a:ext uri="{FF2B5EF4-FFF2-40B4-BE49-F238E27FC236}">
                <a16:creationId xmlns:a16="http://schemas.microsoft.com/office/drawing/2014/main" id="{D9B9E884-1F97-445B-BE69-9DFE2279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81425"/>
            <a:ext cx="2676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09" name="ellipse-73">
            <a:extLst xmlns:a="http://schemas.openxmlformats.org/drawingml/2006/main">
              <a:ext uri="{FF2B5EF4-FFF2-40B4-BE49-F238E27FC236}">
                <a16:creationId xmlns:a16="http://schemas.microsoft.com/office/drawing/2014/main" id="{7D0725BC-1EBF-4E15-A855-9CD093A7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10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2A30"/>
            </a:solidFill>
            <a:prstDash val="solid"/>
          </a:ln>
        </p:spPr>
      </p:sp>
      <p:sp>
        <p:nvSpPr>
          <p:cNvPr id="110" name="Target complete">
            <a:extLst xmlns:a="http://schemas.openxmlformats.org/drawingml/2006/main">
              <a:ext uri="{FF2B5EF4-FFF2-40B4-BE49-F238E27FC236}">
                <a16:creationId xmlns:a16="http://schemas.microsoft.com/office/drawing/2014/main" id="{47E35B35-5BC1-4C8A-84B2-DB32EFC0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67225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Target complete</a:t>
            </a:r>
          </a:p>
        </p:txBody>
      </p:sp>
      <p:sp>
        <p:nvSpPr>
          <p:cNvPr id="111" name="s + H">
            <a:extLst xmlns:a="http://schemas.openxmlformats.org/drawingml/2006/main">
              <a:ext uri="{FF2B5EF4-FFF2-40B4-BE49-F238E27FC236}">
                <a16:creationId xmlns:a16="http://schemas.microsoft.com/office/drawing/2014/main" id="{01BEE6B5-B8A7-4AEE-9472-2D7610D1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62500"/>
            <a:ext cx="2676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s + H</a:t>
            </a:r>
          </a:p>
        </p:txBody>
      </p:sp>
      <p:sp>
        <p:nvSpPr>
          <p:cNvPr id="112" name="ellipse-74">
            <a:extLst xmlns:a="http://schemas.openxmlformats.org/drawingml/2006/main">
              <a:ext uri="{FF2B5EF4-FFF2-40B4-BE49-F238E27FC236}">
                <a16:creationId xmlns:a16="http://schemas.microsoft.com/office/drawing/2014/main" id="{219A70E1-7C16-4D2E-8F6B-FA22EBEC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91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2A30"/>
            </a:solidFill>
            <a:prstDash val="solid"/>
          </a:ln>
        </p:spPr>
      </p:sp>
      <p:sp>
        <p:nvSpPr>
          <p:cNvPr id="113" name="Feedback usable">
            <a:extLst xmlns:a="http://schemas.openxmlformats.org/drawingml/2006/main">
              <a:ext uri="{FF2B5EF4-FFF2-40B4-BE49-F238E27FC236}">
                <a16:creationId xmlns:a16="http://schemas.microsoft.com/office/drawing/2014/main" id="{C68CC911-DF16-400C-91AE-C6AB559B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44830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Feedback usable</a:t>
            </a:r>
          </a:p>
        </p:txBody>
      </p:sp>
      <p:sp>
        <p:nvSpPr>
          <p:cNvPr id="114" name="s + H + d">
            <a:extLst xmlns:a="http://schemas.openxmlformats.org/drawingml/2006/main">
              <a:ext uri="{FF2B5EF4-FFF2-40B4-BE49-F238E27FC236}">
                <a16:creationId xmlns:a16="http://schemas.microsoft.com/office/drawing/2014/main" id="{C8B1DA87-CADC-4CB7-842B-AC3A859F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43575"/>
            <a:ext cx="2676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s + H + d</a:t>
            </a:r>
          </a:p>
        </p:txBody>
      </p:sp>
      <p:cxnSp>
        <p:nvCxnSpPr>
          <p:cNvPr id="115" name="line-75">
            <a:extLst xmlns:a="http://schemas.openxmlformats.org/drawingml/2006/main">
              <a:ext uri="{FF2B5EF4-FFF2-40B4-BE49-F238E27FC236}">
                <a16:creationId xmlns:a16="http://schemas.microsoft.com/office/drawing/2014/main" id="{9A64A4EA-2522-46F2-834B-F5AC78826BA3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734425" y="37623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116" name="line-76">
            <a:extLst xmlns:a="http://schemas.openxmlformats.org/drawingml/2006/main">
              <a:ext uri="{FF2B5EF4-FFF2-40B4-BE49-F238E27FC236}">
                <a16:creationId xmlns:a16="http://schemas.microsoft.com/office/drawing/2014/main" id="{7CBB744D-14ED-4E46-927F-42A48AA0BB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34425" y="3762375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117" name="line-77">
            <a:extLst xmlns:a="http://schemas.openxmlformats.org/drawingml/2006/main">
              <a:ext uri="{FF2B5EF4-FFF2-40B4-BE49-F238E27FC236}">
                <a16:creationId xmlns:a16="http://schemas.microsoft.com/office/drawing/2014/main" id="{937E8FAE-FCE1-44A5-9F13-80044E4990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34425" y="454342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18" name="H">
            <a:extLst xmlns:a="http://schemas.openxmlformats.org/drawingml/2006/main">
              <a:ext uri="{FF2B5EF4-FFF2-40B4-BE49-F238E27FC236}">
                <a16:creationId xmlns:a16="http://schemas.microsoft.com/office/drawing/2014/main" id="{9869B5B4-5FD9-45CA-A1E9-37A0150E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0025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cxnSp>
        <p:nvCxnSpPr>
          <p:cNvPr id="119" name="line-78">
            <a:extLst xmlns:a="http://schemas.openxmlformats.org/drawingml/2006/main">
              <a:ext uri="{FF2B5EF4-FFF2-40B4-BE49-F238E27FC236}">
                <a16:creationId xmlns:a16="http://schemas.microsoft.com/office/drawing/2014/main" id="{FA5281E4-4192-491D-9D58-010C51B4C73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734425" y="47529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120" name="line-79">
            <a:extLst xmlns:a="http://schemas.openxmlformats.org/drawingml/2006/main">
              <a:ext uri="{FF2B5EF4-FFF2-40B4-BE49-F238E27FC236}">
                <a16:creationId xmlns:a16="http://schemas.microsoft.com/office/drawing/2014/main" id="{9257765E-A9FD-41DF-BB71-FFF93FF35CA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34425" y="4752975"/>
            <a:ext cx="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cxnSp>
        <p:nvCxnSpPr>
          <p:cNvPr id="121" name="line-80">
            <a:extLst xmlns:a="http://schemas.openxmlformats.org/drawingml/2006/main">
              <a:ext uri="{FF2B5EF4-FFF2-40B4-BE49-F238E27FC236}">
                <a16:creationId xmlns:a16="http://schemas.microsoft.com/office/drawing/2014/main" id="{6ABC1C17-18B6-4468-AD03-92660E683B6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34425" y="5524500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22" name="d">
            <a:extLst xmlns:a="http://schemas.openxmlformats.org/drawingml/2006/main">
              <a:ext uri="{FF2B5EF4-FFF2-40B4-BE49-F238E27FC236}">
                <a16:creationId xmlns:a16="http://schemas.microsoft.com/office/drawing/2014/main" id="{E57864FD-D3E8-459F-BF88-58403713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23" name="s + H + d ≤ t">
            <a:extLst xmlns:a="http://schemas.openxmlformats.org/drawingml/2006/main">
              <a:ext uri="{FF2B5EF4-FFF2-40B4-BE49-F238E27FC236}">
                <a16:creationId xmlns:a16="http://schemas.microsoft.com/office/drawing/2014/main" id="{B677A670-BC1B-4C44-A501-8516D391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181725"/>
            <a:ext cx="2647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s + H + d ≤ t</a:t>
            </a:r>
          </a:p>
        </p:txBody>
      </p:sp>
      <p:cxnSp>
        <p:nvCxnSpPr>
          <p:cNvPr id="124" name="line-81">
            <a:extLst xmlns:a="http://schemas.openxmlformats.org/drawingml/2006/main">
              <a:ext uri="{FF2B5EF4-FFF2-40B4-BE49-F238E27FC236}">
                <a16:creationId xmlns:a16="http://schemas.microsoft.com/office/drawing/2014/main" id="{0FF27FE5-E3DC-4F9C-B9F1-820EBAD1DE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7650" y="6734175"/>
            <a:ext cx="11696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ED4D9"/>
            </a:solidFill>
            <a:prstDash val="solid"/>
            <a:tailEnd type="none" w="sm" len="sm"/>
          </a:ln>
        </p:spPr>
      </p:cxnSp>
      <p:sp>
        <p:nvSpPr>
          <p:cNvPr id="125" name="d">
            <a:extLst xmlns:a="http://schemas.openxmlformats.org/drawingml/2006/main">
              <a:ext uri="{FF2B5EF4-FFF2-40B4-BE49-F238E27FC236}">
                <a16:creationId xmlns:a16="http://schemas.microsoft.com/office/drawing/2014/main" id="{5EDB815C-14B1-4C22-BCD5-0BF09B67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92467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26" name="Availability across model updates">
            <a:extLst xmlns:a="http://schemas.openxmlformats.org/drawingml/2006/main">
              <a:ext uri="{FF2B5EF4-FFF2-40B4-BE49-F238E27FC236}">
                <a16:creationId xmlns:a16="http://schemas.microsoft.com/office/drawing/2014/main" id="{EC791A43-2922-4FB1-9889-7B45C2A7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24675"/>
            <a:ext cx="7553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52A30"/>
                </a:solidFill>
                <a:latin typeface="Arial"/>
                <a:ea typeface="Arial"/>
                <a:cs typeface="Arial"/>
              </a:rPr>
              <a:t>Availability across model updates</a:t>
            </a:r>
          </a:p>
        </p:txBody>
      </p:sp>
      <p:sp>
        <p:nvSpPr>
          <p:cNvPr id="127" name="H = 14    U = 28    d = 0">
            <a:extLst xmlns:a="http://schemas.openxmlformats.org/drawingml/2006/main">
              <a:ext uri="{FF2B5EF4-FFF2-40B4-BE49-F238E27FC236}">
                <a16:creationId xmlns:a16="http://schemas.microsoft.com/office/drawing/2014/main" id="{397E57AC-F6D1-411A-ADE9-CA72E182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943725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H = 14    U = 28    d = 0</a:t>
            </a:r>
          </a:p>
        </p:txBody>
      </p:sp>
      <p:sp>
        <p:nvSpPr>
          <p:cNvPr id="128" name="Model version">
            <a:extLst xmlns:a="http://schemas.openxmlformats.org/drawingml/2006/main">
              <a:ext uri="{FF2B5EF4-FFF2-40B4-BE49-F238E27FC236}">
                <a16:creationId xmlns:a16="http://schemas.microsoft.com/office/drawing/2014/main" id="{135FCD3A-7193-48CD-937D-185D8B14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4199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Model version</a:t>
            </a:r>
          </a:p>
        </p:txBody>
      </p:sp>
      <p:sp>
        <p:nvSpPr>
          <p:cNvPr id="129" name="rect-82">
            <a:extLst xmlns:a="http://schemas.openxmlformats.org/drawingml/2006/main">
              <a:ext uri="{FF2B5EF4-FFF2-40B4-BE49-F238E27FC236}">
                <a16:creationId xmlns:a16="http://schemas.microsoft.com/office/drawing/2014/main" id="{B6903BA4-7ABE-41BB-8C45-F1356752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4295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v1">
            <a:extLst xmlns:a="http://schemas.openxmlformats.org/drawingml/2006/main">
              <a:ext uri="{FF2B5EF4-FFF2-40B4-BE49-F238E27FC236}">
                <a16:creationId xmlns:a16="http://schemas.microsoft.com/office/drawing/2014/main" id="{55B5ED07-8020-463B-B25F-D1729092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41997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131" name="rect-83">
            <a:extLst xmlns:a="http://schemas.openxmlformats.org/drawingml/2006/main">
              <a:ext uri="{FF2B5EF4-FFF2-40B4-BE49-F238E27FC236}">
                <a16:creationId xmlns:a16="http://schemas.microsoft.com/office/drawing/2014/main" id="{B769F58A-06BC-41D2-880E-F38ADE72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74295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v2">
            <a:extLst xmlns:a="http://schemas.openxmlformats.org/drawingml/2006/main">
              <a:ext uri="{FF2B5EF4-FFF2-40B4-BE49-F238E27FC236}">
                <a16:creationId xmlns:a16="http://schemas.microsoft.com/office/drawing/2014/main" id="{53115F46-68D4-4990-8ED8-B91B57B4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741997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133" name="rect-84">
            <a:extLst xmlns:a="http://schemas.openxmlformats.org/drawingml/2006/main">
              <a:ext uri="{FF2B5EF4-FFF2-40B4-BE49-F238E27FC236}">
                <a16:creationId xmlns:a16="http://schemas.microsoft.com/office/drawing/2014/main" id="{6B00D6A4-EB9E-4131-A4FD-8BBB8782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29500"/>
            <a:ext cx="3276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v3">
            <a:extLst xmlns:a="http://schemas.openxmlformats.org/drawingml/2006/main">
              <a:ext uri="{FF2B5EF4-FFF2-40B4-BE49-F238E27FC236}">
                <a16:creationId xmlns:a16="http://schemas.microsoft.com/office/drawing/2014/main" id="{5AAC4F32-0D33-4B4E-B37E-5892685D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7419975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cxnSp>
        <p:nvCxnSpPr>
          <p:cNvPr id="135" name="line-85">
            <a:extLst xmlns:a="http://schemas.openxmlformats.org/drawingml/2006/main">
              <a:ext uri="{FF2B5EF4-FFF2-40B4-BE49-F238E27FC236}">
                <a16:creationId xmlns:a16="http://schemas.microsoft.com/office/drawing/2014/main" id="{19481F50-22E9-4482-B966-BB8A7694D1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81600" y="8020050"/>
            <a:ext cx="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CED4D9"/>
            </a:solidFill>
            <a:prstDash val="dash"/>
            <a:tailEnd type="none" w="sm" len="sm"/>
          </a:ln>
        </p:spPr>
      </p:cxnSp>
      <p:cxnSp>
        <p:nvCxnSpPr>
          <p:cNvPr id="136" name="line-86">
            <a:extLst xmlns:a="http://schemas.openxmlformats.org/drawingml/2006/main">
              <a:ext uri="{FF2B5EF4-FFF2-40B4-BE49-F238E27FC236}">
                <a16:creationId xmlns:a16="http://schemas.microsoft.com/office/drawing/2014/main" id="{58DE2E48-9485-4B3E-948C-E230F1ABE9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58200" y="8020050"/>
            <a:ext cx="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CED4D9"/>
            </a:solidFill>
            <a:prstDash val="dash"/>
            <a:tailEnd type="none" w="sm" len="sm"/>
          </a:ln>
        </p:spPr>
      </p:cxnSp>
      <p:sp>
        <p:nvSpPr>
          <p:cNvPr id="137" name="Origin (days)">
            <a:extLst xmlns:a="http://schemas.openxmlformats.org/drawingml/2006/main">
              <a:ext uri="{FF2B5EF4-FFF2-40B4-BE49-F238E27FC236}">
                <a16:creationId xmlns:a16="http://schemas.microsoft.com/office/drawing/2014/main" id="{0EF52DEC-8935-4993-8BFA-1692EA4A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70572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Origin (days)</a:t>
            </a:r>
          </a:p>
        </p:txBody>
      </p:sp>
      <p:cxnSp>
        <p:nvCxnSpPr>
          <p:cNvPr id="138" name="line-87">
            <a:extLst xmlns:a="http://schemas.openxmlformats.org/drawingml/2006/main">
              <a:ext uri="{FF2B5EF4-FFF2-40B4-BE49-F238E27FC236}">
                <a16:creationId xmlns:a16="http://schemas.microsoft.com/office/drawing/2014/main" id="{F2D876FB-2709-47AD-8668-30580149086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76676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39" name="0">
            <a:extLst xmlns:a="http://schemas.openxmlformats.org/drawingml/2006/main">
              <a:ext uri="{FF2B5EF4-FFF2-40B4-BE49-F238E27FC236}">
                <a16:creationId xmlns:a16="http://schemas.microsoft.com/office/drawing/2014/main" id="{8F44D839-0588-4BF4-8445-5C4875C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734300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cxnSp>
        <p:nvCxnSpPr>
          <p:cNvPr id="140" name="line-88">
            <a:extLst xmlns:a="http://schemas.openxmlformats.org/drawingml/2006/main">
              <a:ext uri="{FF2B5EF4-FFF2-40B4-BE49-F238E27FC236}">
                <a16:creationId xmlns:a16="http://schemas.microsoft.com/office/drawing/2014/main" id="{FE219C95-BAD1-4B2C-A681-3558B3794D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43300" y="76676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41" name="14">
            <a:extLst xmlns:a="http://schemas.openxmlformats.org/drawingml/2006/main">
              <a:ext uri="{FF2B5EF4-FFF2-40B4-BE49-F238E27FC236}">
                <a16:creationId xmlns:a16="http://schemas.microsoft.com/office/drawing/2014/main" id="{13F413BC-7C67-45AB-9ADB-89ECE3B0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734300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cxnSp>
        <p:nvCxnSpPr>
          <p:cNvPr id="142" name="line-89">
            <a:extLst xmlns:a="http://schemas.openxmlformats.org/drawingml/2006/main">
              <a:ext uri="{FF2B5EF4-FFF2-40B4-BE49-F238E27FC236}">
                <a16:creationId xmlns:a16="http://schemas.microsoft.com/office/drawing/2014/main" id="{67D47D76-352D-42E0-8FE1-D146AFE9821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81600" y="76676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43" name="28">
            <a:extLst xmlns:a="http://schemas.openxmlformats.org/drawingml/2006/main">
              <a:ext uri="{FF2B5EF4-FFF2-40B4-BE49-F238E27FC236}">
                <a16:creationId xmlns:a16="http://schemas.microsoft.com/office/drawing/2014/main" id="{636AD00E-84F1-434E-8DD4-68169023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734300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cxnSp>
        <p:nvCxnSpPr>
          <p:cNvPr id="144" name="line-90">
            <a:extLst xmlns:a="http://schemas.openxmlformats.org/drawingml/2006/main">
              <a:ext uri="{FF2B5EF4-FFF2-40B4-BE49-F238E27FC236}">
                <a16:creationId xmlns:a16="http://schemas.microsoft.com/office/drawing/2014/main" id="{D1DC603B-3C1C-4C51-B9CC-44CAFD21F7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19900" y="76676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45" name="42">
            <a:extLst xmlns:a="http://schemas.openxmlformats.org/drawingml/2006/main">
              <a:ext uri="{FF2B5EF4-FFF2-40B4-BE49-F238E27FC236}">
                <a16:creationId xmlns:a16="http://schemas.microsoft.com/office/drawing/2014/main" id="{103672F8-EE2F-45EA-B9B4-2A53366C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734300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cxnSp>
        <p:nvCxnSpPr>
          <p:cNvPr id="146" name="line-91">
            <a:extLst xmlns:a="http://schemas.openxmlformats.org/drawingml/2006/main">
              <a:ext uri="{FF2B5EF4-FFF2-40B4-BE49-F238E27FC236}">
                <a16:creationId xmlns:a16="http://schemas.microsoft.com/office/drawing/2014/main" id="{C6DA492D-820B-4FEF-B8B0-59A55EDD13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58200" y="76676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47" name="56">
            <a:extLst xmlns:a="http://schemas.openxmlformats.org/drawingml/2006/main">
              <a:ext uri="{FF2B5EF4-FFF2-40B4-BE49-F238E27FC236}">
                <a16:creationId xmlns:a16="http://schemas.microsoft.com/office/drawing/2014/main" id="{8BCA76FA-8416-41FC-BAF2-87A07B99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7734300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cxnSp>
        <p:nvCxnSpPr>
          <p:cNvPr id="148" name="line-92">
            <a:extLst xmlns:a="http://schemas.openxmlformats.org/drawingml/2006/main">
              <a:ext uri="{FF2B5EF4-FFF2-40B4-BE49-F238E27FC236}">
                <a16:creationId xmlns:a16="http://schemas.microsoft.com/office/drawing/2014/main" id="{2DFBE147-03B9-4189-8472-48E5C6C3F6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96500" y="76676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49" name="70">
            <a:extLst xmlns:a="http://schemas.openxmlformats.org/drawingml/2006/main">
              <a:ext uri="{FF2B5EF4-FFF2-40B4-BE49-F238E27FC236}">
                <a16:creationId xmlns:a16="http://schemas.microsoft.com/office/drawing/2014/main" id="{63C83986-F915-492D-A23A-A27947EC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734300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cxnSp>
        <p:nvCxnSpPr>
          <p:cNvPr id="150" name="line-93">
            <a:extLst xmlns:a="http://schemas.openxmlformats.org/drawingml/2006/main">
              <a:ext uri="{FF2B5EF4-FFF2-40B4-BE49-F238E27FC236}">
                <a16:creationId xmlns:a16="http://schemas.microsoft.com/office/drawing/2014/main" id="{54534D42-F35F-4FA0-9C95-854F7E494DB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34800" y="76676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616970"/>
            </a:solidFill>
            <a:prstDash val="solid"/>
            <a:tailEnd type="none" w="sm" len="sm"/>
          </a:ln>
        </p:spPr>
      </p:cxnSp>
      <p:sp>
        <p:nvSpPr>
          <p:cNvPr id="151" name="84">
            <a:extLst xmlns:a="http://schemas.openxmlformats.org/drawingml/2006/main">
              <a:ext uri="{FF2B5EF4-FFF2-40B4-BE49-F238E27FC236}">
                <a16:creationId xmlns:a16="http://schemas.microsoft.com/office/drawing/2014/main" id="{D96E5A20-0E0F-4907-880C-321C3A56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7734300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84</a:t>
            </a:r>
          </a:p>
        </p:txBody>
      </p:sp>
      <p:sp>
        <p:nvSpPr>
          <p:cNvPr id="152" name="R2 Reuse">
            <a:extLst xmlns:a="http://schemas.openxmlformats.org/drawingml/2006/main">
              <a:ext uri="{FF2B5EF4-FFF2-40B4-BE49-F238E27FC236}">
                <a16:creationId xmlns:a16="http://schemas.microsoft.com/office/drawing/2014/main" id="{F114336B-9A7B-4392-9AB7-CAE18F89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9150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76E9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76E98"/>
                </a:solidFill>
                <a:latin typeface="Arial"/>
                <a:ea typeface="Arial"/>
                <a:cs typeface="Arial"/>
              </a:rPr>
              <a:t>R2 Reuse</a:t>
            </a:r>
          </a:p>
        </p:txBody>
      </p:sp>
      <p:sp>
        <p:nvSpPr>
          <p:cNvPr id="153" name="1">
            <a:extLst xmlns:a="http://schemas.openxmlformats.org/drawingml/2006/main">
              <a:ext uri="{FF2B5EF4-FFF2-40B4-BE49-F238E27FC236}">
                <a16:creationId xmlns:a16="http://schemas.microsoft.com/office/drawing/2014/main" id="{C619DC63-EF65-4B2E-B401-8D503479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115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4" name="0">
            <a:extLst xmlns:a="http://schemas.openxmlformats.org/drawingml/2006/main">
              <a:ext uri="{FF2B5EF4-FFF2-40B4-BE49-F238E27FC236}">
                <a16:creationId xmlns:a16="http://schemas.microsoft.com/office/drawing/2014/main" id="{500984D1-5B90-4419-A3DA-8D85BF2D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4296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cxnSp>
        <p:nvCxnSpPr>
          <p:cNvPr id="155" name="line-94">
            <a:extLst xmlns:a="http://schemas.openxmlformats.org/drawingml/2006/main">
              <a:ext uri="{FF2B5EF4-FFF2-40B4-BE49-F238E27FC236}">
                <a16:creationId xmlns:a16="http://schemas.microsoft.com/office/drawing/2014/main" id="{D8E8D198-5B30-4CE5-A946-5B697E7EA9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8562975"/>
            <a:ext cx="98298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CED4D9"/>
            </a:solidFill>
            <a:prstDash val="solid"/>
            <a:tailEnd type="none" w="sm" len="sm"/>
          </a:ln>
        </p:spPr>
      </p:cxnSp>
      <p:cxnSp>
        <p:nvCxnSpPr>
          <p:cNvPr id="156" name="line-95">
            <a:extLst xmlns:a="http://schemas.openxmlformats.org/drawingml/2006/main">
              <a:ext uri="{FF2B5EF4-FFF2-40B4-BE49-F238E27FC236}">
                <a16:creationId xmlns:a16="http://schemas.microsoft.com/office/drawing/2014/main" id="{E91C6EEA-4086-4EC3-910B-1CB6D39FB4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8248650"/>
            <a:ext cx="9829800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EEF1F3"/>
            </a:solidFill>
            <a:prstDash val="solid"/>
            <a:tailEnd type="none" w="sm" len="sm"/>
          </a:ln>
        </p:spPr>
      </p:cxnSp>
      <p:sp>
        <p:nvSpPr>
          <p:cNvPr id="157" name="rect-96">
            <a:extLst xmlns:a="http://schemas.openxmlformats.org/drawingml/2006/main">
              <a:ext uri="{FF2B5EF4-FFF2-40B4-BE49-F238E27FC236}">
                <a16:creationId xmlns:a16="http://schemas.microsoft.com/office/drawing/2014/main" id="{BF7F29DC-636D-48BE-BFCD-8B9D8F5F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248650"/>
            <a:ext cx="8191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58" name="line-97">
            <a:extLst xmlns:a="http://schemas.openxmlformats.org/drawingml/2006/main">
              <a:ext uri="{FF2B5EF4-FFF2-40B4-BE49-F238E27FC236}">
                <a16:creationId xmlns:a16="http://schemas.microsoft.com/office/drawing/2014/main" id="{C51DFA48-AE00-4D3D-8726-3CC93D450ED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856297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6E98"/>
            </a:solidFill>
            <a:prstDash val="solid"/>
            <a:tailEnd type="none" w="sm" len="sm"/>
          </a:ln>
        </p:spPr>
      </p:cxnSp>
      <p:cxnSp>
        <p:nvCxnSpPr>
          <p:cNvPr id="159" name="line-98">
            <a:extLst xmlns:a="http://schemas.openxmlformats.org/drawingml/2006/main">
              <a:ext uri="{FF2B5EF4-FFF2-40B4-BE49-F238E27FC236}">
                <a16:creationId xmlns:a16="http://schemas.microsoft.com/office/drawing/2014/main" id="{D7B67744-44F8-463F-B086-112A36BC6DC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543300" y="824865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6E98"/>
            </a:solidFill>
            <a:prstDash val="solid"/>
            <a:tailEnd type="none" w="sm" len="sm"/>
          </a:ln>
        </p:spPr>
      </p:cxnSp>
      <p:cxnSp>
        <p:nvCxnSpPr>
          <p:cNvPr id="160" name="line-99">
            <a:extLst xmlns:a="http://schemas.openxmlformats.org/drawingml/2006/main">
              <a:ext uri="{FF2B5EF4-FFF2-40B4-BE49-F238E27FC236}">
                <a16:creationId xmlns:a16="http://schemas.microsoft.com/office/drawing/2014/main" id="{03D38511-3C25-4BF1-AC78-AEE797266F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43300" y="8248650"/>
            <a:ext cx="819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76E98"/>
            </a:solidFill>
            <a:prstDash val="solid"/>
            <a:tailEnd type="none" w="sm" len="sm"/>
          </a:ln>
        </p:spPr>
      </p:cxnSp>
      <p:sp>
        <p:nvSpPr>
          <p:cNvPr id="161" name="R3 Isolate">
            <a:extLst xmlns:a="http://schemas.openxmlformats.org/drawingml/2006/main">
              <a:ext uri="{FF2B5EF4-FFF2-40B4-BE49-F238E27FC236}">
                <a16:creationId xmlns:a16="http://schemas.microsoft.com/office/drawing/2014/main" id="{28BE04E4-A397-44D2-A403-1322516B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93445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D63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D632D"/>
                </a:solidFill>
                <a:latin typeface="Arial"/>
                <a:ea typeface="Arial"/>
                <a:cs typeface="Arial"/>
              </a:rPr>
              <a:t>R3 Isolate</a:t>
            </a:r>
          </a:p>
        </p:txBody>
      </p:sp>
      <p:sp>
        <p:nvSpPr>
          <p:cNvPr id="162" name="1">
            <a:extLst xmlns:a="http://schemas.openxmlformats.org/drawingml/2006/main">
              <a:ext uri="{FF2B5EF4-FFF2-40B4-BE49-F238E27FC236}">
                <a16:creationId xmlns:a16="http://schemas.microsoft.com/office/drawing/2014/main" id="{82759FEF-3CBB-4558-9599-F44B07D1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858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3" name="0">
            <a:extLst xmlns:a="http://schemas.openxmlformats.org/drawingml/2006/main">
              <a:ext uri="{FF2B5EF4-FFF2-40B4-BE49-F238E27FC236}">
                <a16:creationId xmlns:a16="http://schemas.microsoft.com/office/drawing/2014/main" id="{48355432-11E4-4174-96D4-E53C96C1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1725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cxnSp>
        <p:nvCxnSpPr>
          <p:cNvPr id="164" name="line-100">
            <a:extLst xmlns:a="http://schemas.openxmlformats.org/drawingml/2006/main">
              <a:ext uri="{FF2B5EF4-FFF2-40B4-BE49-F238E27FC236}">
                <a16:creationId xmlns:a16="http://schemas.microsoft.com/office/drawing/2014/main" id="{AEF9725E-923E-4129-BB72-BBE54628B0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9305925"/>
            <a:ext cx="982980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CED4D9"/>
            </a:solidFill>
            <a:prstDash val="solid"/>
            <a:tailEnd type="none" w="sm" len="sm"/>
          </a:ln>
        </p:spPr>
      </p:cxnSp>
      <p:cxnSp>
        <p:nvCxnSpPr>
          <p:cNvPr id="165" name="line-101">
            <a:extLst xmlns:a="http://schemas.openxmlformats.org/drawingml/2006/main">
              <a:ext uri="{FF2B5EF4-FFF2-40B4-BE49-F238E27FC236}">
                <a16:creationId xmlns:a16="http://schemas.microsoft.com/office/drawing/2014/main" id="{1087D9EC-C8DD-4C18-9CF4-C3A2D6A17D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8991600"/>
            <a:ext cx="9829800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EEF1F3"/>
            </a:solidFill>
            <a:prstDash val="solid"/>
            <a:tailEnd type="none" w="sm" len="sm"/>
          </a:ln>
        </p:spPr>
      </p:cxnSp>
      <p:sp>
        <p:nvSpPr>
          <p:cNvPr id="166" name="rect-102">
            <a:extLst xmlns:a="http://schemas.openxmlformats.org/drawingml/2006/main">
              <a:ext uri="{FF2B5EF4-FFF2-40B4-BE49-F238E27FC236}">
                <a16:creationId xmlns:a16="http://schemas.microsoft.com/office/drawing/2014/main" id="{FA2CA5D9-31AF-4D38-BD92-332B1C96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991600"/>
            <a:ext cx="1638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rect-103">
            <a:extLst xmlns:a="http://schemas.openxmlformats.org/drawingml/2006/main">
              <a:ext uri="{FF2B5EF4-FFF2-40B4-BE49-F238E27FC236}">
                <a16:creationId xmlns:a16="http://schemas.microsoft.com/office/drawing/2014/main" id="{4BD5446E-6D4B-4CF4-8042-1D0A6EC1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991600"/>
            <a:ext cx="1638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rect-104">
            <a:extLst xmlns:a="http://schemas.openxmlformats.org/drawingml/2006/main">
              <a:ext uri="{FF2B5EF4-FFF2-40B4-BE49-F238E27FC236}">
                <a16:creationId xmlns:a16="http://schemas.microsoft.com/office/drawing/2014/main" id="{362E719E-D8F7-4175-A165-80DD9FCD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991600"/>
            <a:ext cx="16383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CE4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69" name="line-105">
            <a:extLst xmlns:a="http://schemas.openxmlformats.org/drawingml/2006/main">
              <a:ext uri="{FF2B5EF4-FFF2-40B4-BE49-F238E27FC236}">
                <a16:creationId xmlns:a16="http://schemas.microsoft.com/office/drawing/2014/main" id="{598A38AE-6086-4453-835D-6EA75A0A6D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05000" y="930592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0" name="line-106">
            <a:extLst xmlns:a="http://schemas.openxmlformats.org/drawingml/2006/main">
              <a:ext uri="{FF2B5EF4-FFF2-40B4-BE49-F238E27FC236}">
                <a16:creationId xmlns:a16="http://schemas.microsoft.com/office/drawing/2014/main" id="{E978FFD3-B374-469A-87C1-DCCD31EF2D3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543300" y="89916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1" name="line-107">
            <a:extLst xmlns:a="http://schemas.openxmlformats.org/drawingml/2006/main">
              <a:ext uri="{FF2B5EF4-FFF2-40B4-BE49-F238E27FC236}">
                <a16:creationId xmlns:a16="http://schemas.microsoft.com/office/drawing/2014/main" id="{FD08D749-EBF3-4825-A4E5-93ECB2FF703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43300" y="89916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2" name="line-108">
            <a:extLst xmlns:a="http://schemas.openxmlformats.org/drawingml/2006/main">
              <a:ext uri="{FF2B5EF4-FFF2-40B4-BE49-F238E27FC236}">
                <a16:creationId xmlns:a16="http://schemas.microsoft.com/office/drawing/2014/main" id="{56CFBE5C-CFAE-4504-AD47-8334175C5A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81600" y="89916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3" name="line-109">
            <a:extLst xmlns:a="http://schemas.openxmlformats.org/drawingml/2006/main">
              <a:ext uri="{FF2B5EF4-FFF2-40B4-BE49-F238E27FC236}">
                <a16:creationId xmlns:a16="http://schemas.microsoft.com/office/drawing/2014/main" id="{BB8D8D7A-9F81-4240-96F8-EAA5E250342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81600" y="930592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4" name="line-110">
            <a:extLst xmlns:a="http://schemas.openxmlformats.org/drawingml/2006/main">
              <a:ext uri="{FF2B5EF4-FFF2-40B4-BE49-F238E27FC236}">
                <a16:creationId xmlns:a16="http://schemas.microsoft.com/office/drawing/2014/main" id="{7970CB51-6D92-4D0F-BF28-D2C381769E8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819900" y="89916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5" name="line-111">
            <a:extLst xmlns:a="http://schemas.openxmlformats.org/drawingml/2006/main">
              <a:ext uri="{FF2B5EF4-FFF2-40B4-BE49-F238E27FC236}">
                <a16:creationId xmlns:a16="http://schemas.microsoft.com/office/drawing/2014/main" id="{DF34CB0A-0647-4C41-AB17-39FAA15267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19900" y="89916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6" name="line-112">
            <a:extLst xmlns:a="http://schemas.openxmlformats.org/drawingml/2006/main">
              <a:ext uri="{FF2B5EF4-FFF2-40B4-BE49-F238E27FC236}">
                <a16:creationId xmlns:a16="http://schemas.microsoft.com/office/drawing/2014/main" id="{FCECDA57-D7F6-45B4-B3C0-BA81C68CF1F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58200" y="89916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7" name="line-113">
            <a:extLst xmlns:a="http://schemas.openxmlformats.org/drawingml/2006/main">
              <a:ext uri="{FF2B5EF4-FFF2-40B4-BE49-F238E27FC236}">
                <a16:creationId xmlns:a16="http://schemas.microsoft.com/office/drawing/2014/main" id="{1667CB5D-9C9F-4987-98BF-55A33D2342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458200" y="930592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8" name="line-114">
            <a:extLst xmlns:a="http://schemas.openxmlformats.org/drawingml/2006/main">
              <a:ext uri="{FF2B5EF4-FFF2-40B4-BE49-F238E27FC236}">
                <a16:creationId xmlns:a16="http://schemas.microsoft.com/office/drawing/2014/main" id="{74C8CF88-3825-4C15-9BE8-70DB62DA8E8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096500" y="89916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cxnSp>
        <p:nvCxnSpPr>
          <p:cNvPr id="179" name="line-115">
            <a:extLst xmlns:a="http://schemas.openxmlformats.org/drawingml/2006/main">
              <a:ext uri="{FF2B5EF4-FFF2-40B4-BE49-F238E27FC236}">
                <a16:creationId xmlns:a16="http://schemas.microsoft.com/office/drawing/2014/main" id="{3398681B-B8A1-4442-9FDE-A7C6A2FAB0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96500" y="89916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D632D"/>
            </a:solidFill>
            <a:prstDash val="solid"/>
            <a:tailEnd type="none" w="sm" len="sm"/>
          </a:ln>
        </p:spPr>
      </p:cxnSp>
      <p:sp>
        <p:nvSpPr>
          <p:cNvPr id="180" name="0  empty pool: issue Raw">
            <a:extLst xmlns:a="http://schemas.openxmlformats.org/drawingml/2006/main">
              <a:ext uri="{FF2B5EF4-FFF2-40B4-BE49-F238E27FC236}">
                <a16:creationId xmlns:a16="http://schemas.microsoft.com/office/drawing/2014/main" id="{4BA71D8F-53F8-405C-8916-1D534854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52500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0  empty pool: issue Raw</a:t>
            </a:r>
          </a:p>
        </p:txBody>
      </p:sp>
      <p:sp>
        <p:nvSpPr>
          <p:cNvPr id="181" name="1  eligible feedback available">
            <a:extLst xmlns:a="http://schemas.openxmlformats.org/drawingml/2006/main">
              <a:ext uri="{FF2B5EF4-FFF2-40B4-BE49-F238E27FC236}">
                <a16:creationId xmlns:a16="http://schemas.microsoft.com/office/drawing/2014/main" id="{CAF7482A-606F-43A1-AEFF-10246569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9525000"/>
            <a:ext cx="4581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defPPr>
            <a:lvl1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1pPr>
            <a:lvl2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2pPr>
            <a:lvl3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3pPr>
            <a:lvl4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4pPr>
            <a:lvl5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5pPr>
            <a:lvl6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6pPr>
            <a:lvl7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7pPr>
            <a:lvl8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8pPr>
            <a:lvl9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61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6970"/>
                </a:solidFill>
                <a:latin typeface="Arial"/>
                <a:ea typeface="Arial"/>
                <a:cs typeface="Arial"/>
              </a:rPr>
              <a:t>1  eligible feedback available</a:t>
            </a:r>
          </a:p>
        </p:txBody>
      </p:sp>
    </p:spTree>
    <p:extLst>
      <p:ext uri="{BB962C8B-B14F-4D97-AF65-F5344CB8AC3E}">
        <p14:creationId xmlns:p14="http://schemas.microsoft.com/office/powerpoint/2010/main" val="2106043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2026-10-28T10:10:44.6380000Z</dcterms:created>
  <dcterms:modified xsi:type="dcterms:W3CDTF">2026-10-28T10:10:44.6380000Z</dcterms:modified>
</coreProperties>
</file>